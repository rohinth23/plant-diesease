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74" r:id="rId5"/>
    <p:sldId id="260" r:id="rId6"/>
    <p:sldId id="261" r:id="rId7"/>
    <p:sldId id="273" r:id="rId8"/>
    <p:sldId id="262" r:id="rId9"/>
    <p:sldId id="263" r:id="rId10"/>
    <p:sldId id="264" r:id="rId11"/>
    <p:sldId id="265" r:id="rId12"/>
    <p:sldId id="266" r:id="rId13"/>
    <p:sldId id="267" r:id="rId14"/>
    <p:sldId id="268" r:id="rId15"/>
    <p:sldId id="269" r:id="rId16"/>
    <p:sldId id="271" r:id="rId17"/>
    <p:sldId id="272" r:id="rId18"/>
  </p:sldIdLst>
  <p:sldSz cx="12192000" cy="6858000"/>
  <p:notesSz cx="6858000" cy="9144000"/>
  <p:embeddedFontLst>
    <p:embeddedFont>
      <p:font typeface="Arial Narrow" panose="020B0606020202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f10L9/O25FquuOPl/RY1EpRjf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DD818E-ADFA-4579-856F-A3140DA02BD1}">
  <a:tblStyle styleId="{3CDD818E-ADFA-4579-856F-A3140DA02BD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FFC7DFEF-3B2E-D017-0B21-BC210BF462AC}"/>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1B5CA6E9-7386-2799-6840-751B808D74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EA42349E-92BC-7FC0-2C31-D4076D7383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98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3C1E655B-A341-3619-F687-C18AD4E094FE}"/>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42A01C9D-D513-EC7A-DB57-5A2A126154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a:extLst>
              <a:ext uri="{FF2B5EF4-FFF2-40B4-BE49-F238E27FC236}">
                <a16:creationId xmlns:a16="http://schemas.microsoft.com/office/drawing/2014/main" id="{20F5E407-20E3-63F2-7964-49A89E8D0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8853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5183188" y="987425"/>
            <a:ext cx="6172200" cy="4873625"/>
          </a:xfrm>
          <a:prstGeom prst="rect">
            <a:avLst/>
          </a:prstGeom>
          <a:noFill/>
          <a:ln>
            <a:noFill/>
          </a:ln>
        </p:spPr>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261257" y="2159687"/>
            <a:ext cx="11636830" cy="437922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600" b="1" dirty="0">
                <a:latin typeface="Arial Narrow"/>
                <a:ea typeface="Arial Narrow"/>
                <a:cs typeface="Arial Narrow"/>
                <a:sym typeface="Arial Narrow"/>
              </a:rPr>
              <a:t>DEPARTMENT OF COMPUTER SCIENCE AND ENGINEERING</a:t>
            </a:r>
            <a:endParaRPr dirty="0">
              <a:latin typeface="Arial Narrow"/>
              <a:ea typeface="Arial Narrow"/>
              <a:cs typeface="Arial Narrow"/>
              <a:sym typeface="Arial Narrow"/>
            </a:endParaRPr>
          </a:p>
          <a:p>
            <a:pPr marL="0" lvl="0" indent="0" algn="ctr">
              <a:buSzPts val="3600"/>
              <a:buNone/>
            </a:pPr>
            <a:r>
              <a:rPr lang="en-US" b="1" dirty="0">
                <a:latin typeface="Arial Narrow"/>
                <a:ea typeface="Arial Narrow"/>
                <a:cs typeface="Arial Narrow"/>
                <a:sym typeface="Arial Narrow"/>
              </a:rPr>
              <a:t>20CS7503 &amp; DESIGN PROJECT – III</a:t>
            </a:r>
          </a:p>
          <a:p>
            <a:pPr marL="0" lvl="0" indent="0" algn="ctr">
              <a:buSzPts val="3600"/>
              <a:buNone/>
            </a:pPr>
            <a:endParaRPr lang="en-US" b="1" dirty="0">
              <a:latin typeface="Arial Narrow"/>
              <a:sym typeface="Arial Narrow"/>
            </a:endParaRPr>
          </a:p>
          <a:p>
            <a:pPr marL="0" lvl="0" indent="0" algn="ctr">
              <a:buSzPts val="3600"/>
              <a:buNone/>
            </a:pPr>
            <a:r>
              <a:rPr lang="en-US" b="1" dirty="0"/>
              <a:t>END SEMESTER PRACTICAL EXAMINATION- NOV / DEC 2025</a:t>
            </a:r>
            <a:endParaRPr lang="en-US" dirty="0"/>
          </a:p>
          <a:p>
            <a:pPr marL="0" lvl="0" indent="0" algn="ctr" rtl="0">
              <a:lnSpc>
                <a:spcPct val="90000"/>
              </a:lnSpc>
              <a:spcBef>
                <a:spcPts val="1000"/>
              </a:spcBef>
              <a:spcAft>
                <a:spcPts val="0"/>
              </a:spcAft>
              <a:buClr>
                <a:schemeClr val="dk1"/>
              </a:buClr>
              <a:buSzPts val="2800"/>
              <a:buNone/>
            </a:pPr>
            <a:r>
              <a:rPr lang="en-US" b="1" u="sng" dirty="0">
                <a:latin typeface="Arial Narrow"/>
                <a:ea typeface="Arial Narrow"/>
                <a:cs typeface="Arial Narrow"/>
                <a:sym typeface="Arial Narrow"/>
              </a:rPr>
              <a:t>REVIEW PRESENTATION</a:t>
            </a:r>
            <a:endParaRPr dirty="0">
              <a:latin typeface="Arial Narrow"/>
              <a:ea typeface="Arial Narrow"/>
              <a:cs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Batch No.:18</a:t>
            </a:r>
            <a:endParaRPr lang="en-US" dirty="0">
              <a:latin typeface="Arial Narrow"/>
              <a:ea typeface="Arial Narrow"/>
              <a:cs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Date:28.11.2025</a:t>
            </a:r>
          </a:p>
          <a:p>
            <a:pPr marL="0" lvl="0" indent="0" algn="l" rtl="0">
              <a:lnSpc>
                <a:spcPct val="90000"/>
              </a:lnSpc>
              <a:spcBef>
                <a:spcPts val="1000"/>
              </a:spcBef>
              <a:spcAft>
                <a:spcPts val="0"/>
              </a:spcAft>
              <a:buClr>
                <a:schemeClr val="dk1"/>
              </a:buClr>
              <a:buSzPts val="2400"/>
              <a:buNone/>
            </a:pPr>
            <a:r>
              <a:rPr lang="en-US" sz="2400" b="1" dirty="0" err="1">
                <a:latin typeface="Arial Narrow"/>
                <a:ea typeface="Arial Narrow"/>
                <a:cs typeface="Arial Narrow"/>
                <a:sym typeface="Arial Narrow"/>
              </a:rPr>
              <a:t>Session:AN</a:t>
            </a:r>
            <a:endParaRPr b="1" dirty="0">
              <a:latin typeface="Arial Narrow"/>
              <a:ea typeface="Arial Narrow"/>
              <a:cs typeface="Arial Narrow"/>
              <a:sym typeface="Arial Narrow"/>
            </a:endParaRPr>
          </a:p>
        </p:txBody>
      </p:sp>
      <p:sp>
        <p:nvSpPr>
          <p:cNvPr id="89"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pPr marL="0" lvl="0" indent="0" algn="r" rtl="0">
                <a:spcBef>
                  <a:spcPts val="0"/>
                </a:spcBef>
                <a:spcAft>
                  <a:spcPts val="0"/>
                </a:spcAft>
                <a:buNone/>
              </a:pPr>
              <a:t>1</a:t>
            </a:fld>
            <a:endParaRPr b="1" dirty="0">
              <a:solidFill>
                <a:schemeClr val="dk1"/>
              </a:solidFill>
              <a:latin typeface="Times New Roman"/>
              <a:ea typeface="Times New Roman"/>
              <a:cs typeface="Times New Roman"/>
              <a:sym typeface="Times New Roman"/>
            </a:endParaRPr>
          </a:p>
        </p:txBody>
      </p:sp>
      <p:pic>
        <p:nvPicPr>
          <p:cNvPr id="91" name="Google Shape;91;p1"/>
          <p:cNvPicPr preferRelativeResize="0"/>
          <p:nvPr/>
        </p:nvPicPr>
        <p:blipFill>
          <a:blip r:embed="rId3">
            <a:alphaModFix/>
          </a:blip>
          <a:srcRect l="16357" r="14907" b="8148"/>
          <a:stretch>
            <a:fillRect/>
          </a:stretch>
        </p:blipFill>
        <p:spPr>
          <a:xfrm>
            <a:off x="11215585" y="65332"/>
            <a:ext cx="903515" cy="511635"/>
          </a:xfrm>
          <a:prstGeom prst="rect">
            <a:avLst/>
          </a:prstGeom>
          <a:noFill/>
          <a:ln>
            <a:noFill/>
          </a:ln>
        </p:spPr>
      </p:pic>
      <p:pic>
        <p:nvPicPr>
          <p:cNvPr id="3" name="Picture 2">
            <a:extLst>
              <a:ext uri="{FF2B5EF4-FFF2-40B4-BE49-F238E27FC236}">
                <a16:creationId xmlns:a16="http://schemas.microsoft.com/office/drawing/2014/main" id="{1F1154A9-AC42-7CD3-98A5-5A0376D6534E}"/>
              </a:ext>
            </a:extLst>
          </p:cNvPr>
          <p:cNvPicPr>
            <a:picLocks noChangeAspect="1"/>
          </p:cNvPicPr>
          <p:nvPr/>
        </p:nvPicPr>
        <p:blipFill>
          <a:blip r:embed="rId4"/>
          <a:stretch>
            <a:fillRect/>
          </a:stretch>
        </p:blipFill>
        <p:spPr>
          <a:xfrm>
            <a:off x="104932" y="0"/>
            <a:ext cx="5348811" cy="1873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body" idx="1"/>
          </p:nvPr>
        </p:nvSpPr>
        <p:spPr>
          <a:xfrm>
            <a:off x="0" y="0"/>
            <a:ext cx="12119100" cy="792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600" b="1" dirty="0">
                <a:latin typeface="Arial Narrow"/>
                <a:ea typeface="Arial Narrow"/>
                <a:cs typeface="Arial Narrow"/>
                <a:sym typeface="Arial Narrow"/>
              </a:rPr>
              <a:t>TITLE OF THE PROJECT</a:t>
            </a:r>
            <a:endParaRPr b="1" dirty="0">
              <a:latin typeface="Arial Narrow"/>
              <a:ea typeface="Arial Narrow"/>
              <a:cs typeface="Arial Narrow"/>
              <a:sym typeface="Arial Narrow"/>
            </a:endParaRPr>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pPr marL="0" lvl="0" indent="0" algn="r" rtl="0">
                <a:spcBef>
                  <a:spcPts val="0"/>
                </a:spcBef>
                <a:spcAft>
                  <a:spcPts val="0"/>
                </a:spcAft>
                <a:buNone/>
              </a:pPr>
              <a:t>2</a:t>
            </a:fld>
            <a:endParaRPr b="1">
              <a:solidFill>
                <a:schemeClr val="dk1"/>
              </a:solidFill>
              <a:latin typeface="Times New Roman"/>
              <a:ea typeface="Times New Roman"/>
              <a:cs typeface="Times New Roman"/>
              <a:sym typeface="Times New Roman"/>
            </a:endParaRPr>
          </a:p>
        </p:txBody>
      </p:sp>
      <p:sp>
        <p:nvSpPr>
          <p:cNvPr id="98" name="Google Shape;98;p2"/>
          <p:cNvSpPr txBox="1">
            <a:spLocks noGrp="1"/>
          </p:cNvSpPr>
          <p:nvPr>
            <p:ph type="body" idx="1"/>
          </p:nvPr>
        </p:nvSpPr>
        <p:spPr>
          <a:xfrm>
            <a:off x="495817" y="3594414"/>
            <a:ext cx="5679900" cy="2724900"/>
          </a:xfrm>
          <a:prstGeom prst="rect">
            <a:avLst/>
          </a:prstGeom>
          <a:noFill/>
          <a:ln>
            <a:noFill/>
          </a:ln>
        </p:spPr>
        <p:txBody>
          <a:bodyPr spcFirstLastPara="1" wrap="square" lIns="91425" tIns="45700" rIns="91425" bIns="45700" anchor="t" anchorCtr="0">
            <a:normAutofit/>
          </a:bodyPr>
          <a:lstStyle/>
          <a:p>
            <a:pPr marL="0" lvl="0" indent="0">
              <a:buSzPts val="2400"/>
              <a:buNone/>
            </a:pPr>
            <a:r>
              <a:rPr lang="en-US" sz="2400" b="1" dirty="0" err="1">
                <a:latin typeface="Arial Narrow" panose="020B0606020202030204" pitchFamily="34" charset="0"/>
                <a:ea typeface="Times New Roman"/>
                <a:cs typeface="Times New Roman"/>
                <a:sym typeface="Times New Roman"/>
              </a:rPr>
              <a:t>GuideName</a:t>
            </a:r>
            <a:r>
              <a:rPr lang="en-US" sz="2400" b="1" dirty="0">
                <a:latin typeface="Arial Narrow" panose="020B0606020202030204" pitchFamily="34" charset="0"/>
                <a:ea typeface="Times New Roman"/>
                <a:cs typeface="Times New Roman"/>
                <a:sym typeface="Times New Roman"/>
              </a:rPr>
              <a:t>: </a:t>
            </a:r>
            <a:r>
              <a:rPr lang="en-US" b="1" dirty="0">
                <a:latin typeface="Arial Narrow" panose="020B0606020202030204" pitchFamily="34" charset="0"/>
                <a:ea typeface="Times New Roman"/>
                <a:cs typeface="Times New Roman"/>
                <a:sym typeface="Times New Roman"/>
              </a:rPr>
              <a:t>THENMOZHI, AP/CSE</a:t>
            </a:r>
            <a:endParaRPr b="1" dirty="0">
              <a:latin typeface="Arial Narrow" panose="020B0606020202030204" pitchFamily="34" charset="0"/>
              <a:ea typeface="Times New Roman"/>
              <a:cs typeface="Times New Roman"/>
              <a:sym typeface="Times New Roman"/>
            </a:endParaRPr>
          </a:p>
        </p:txBody>
      </p:sp>
      <p:sp>
        <p:nvSpPr>
          <p:cNvPr id="99" name="Google Shape;99;p2"/>
          <p:cNvSpPr txBox="1">
            <a:spLocks noGrp="1"/>
          </p:cNvSpPr>
          <p:nvPr>
            <p:ph type="body" idx="1"/>
          </p:nvPr>
        </p:nvSpPr>
        <p:spPr>
          <a:xfrm>
            <a:off x="6752492" y="3631450"/>
            <a:ext cx="5246841" cy="27249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a:cs typeface="Times New Roman"/>
                <a:sym typeface="Times New Roman"/>
              </a:rPr>
              <a:t>Team Members:</a:t>
            </a:r>
          </a:p>
          <a:p>
            <a:pPr marL="0" lvl="0" indent="0">
              <a:buSzPts val="2400"/>
              <a:buNone/>
            </a:pPr>
            <a:r>
              <a:rPr lang="en-US" b="1" dirty="0">
                <a:latin typeface="Arial Narrow" panose="020B0606020202030204" pitchFamily="34" charset="0"/>
                <a:ea typeface="Times New Roman"/>
                <a:cs typeface="Times New Roman"/>
                <a:sym typeface="Times New Roman"/>
              </a:rPr>
              <a:t>I.MOHAMMAD HALITH (811722104089)</a:t>
            </a:r>
          </a:p>
          <a:p>
            <a:pPr marL="0" lvl="0" indent="0">
              <a:buSzPts val="2400"/>
              <a:buNone/>
            </a:pPr>
            <a:r>
              <a:rPr lang="en-US" b="1" dirty="0">
                <a:latin typeface="Arial Narrow" panose="020B0606020202030204" pitchFamily="34" charset="0"/>
                <a:ea typeface="Times New Roman"/>
                <a:cs typeface="Times New Roman"/>
                <a:sym typeface="Times New Roman"/>
              </a:rPr>
              <a:t>K.REHAAN (811722104122)</a:t>
            </a:r>
          </a:p>
          <a:p>
            <a:pPr marL="0" lvl="0" indent="0">
              <a:buSzPts val="2400"/>
              <a:buNone/>
            </a:pPr>
            <a:r>
              <a:rPr lang="en-US" b="1" dirty="0">
                <a:latin typeface="Arial Narrow" panose="020B0606020202030204" pitchFamily="34" charset="0"/>
                <a:ea typeface="Times New Roman"/>
                <a:cs typeface="Times New Roman"/>
                <a:sym typeface="Times New Roman"/>
              </a:rPr>
              <a:t>R.ROHINTH (811722104125)</a:t>
            </a:r>
          </a:p>
          <a:p>
            <a:pPr marL="0" lvl="0" indent="0">
              <a:buSzPts val="2400"/>
              <a:buNone/>
            </a:pPr>
            <a:r>
              <a:rPr lang="en-US" b="1" dirty="0">
                <a:latin typeface="Arial Narrow" panose="020B0606020202030204" pitchFamily="34" charset="0"/>
                <a:ea typeface="Times New Roman"/>
                <a:cs typeface="Times New Roman"/>
                <a:sym typeface="Times New Roman"/>
              </a:rPr>
              <a:t>B.SACHIN (811722104126)</a:t>
            </a:r>
          </a:p>
          <a:p>
            <a:pPr marL="0" lvl="0" indent="0" algn="l" rtl="0">
              <a:lnSpc>
                <a:spcPct val="90000"/>
              </a:lnSpc>
              <a:spcBef>
                <a:spcPts val="1000"/>
              </a:spcBef>
              <a:spcAft>
                <a:spcPts val="0"/>
              </a:spcAft>
              <a:buClr>
                <a:schemeClr val="dk1"/>
              </a:buClr>
              <a:buSzPts val="2400"/>
              <a:buNone/>
            </a:pPr>
            <a:endParaRPr b="1" dirty="0">
              <a:latin typeface="Arial Narrow" panose="020B0606020202030204" pitchFamily="34" charset="0"/>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0"/>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OBJECTIVE OF THE PROJECT</a:t>
            </a:r>
            <a:endParaRPr>
              <a:latin typeface="Arial Narrow"/>
              <a:ea typeface="Arial Narrow"/>
              <a:cs typeface="Arial Narrow"/>
              <a:sym typeface="Arial Narrow"/>
            </a:endParaRPr>
          </a:p>
        </p:txBody>
      </p:sp>
      <p:sp>
        <p:nvSpPr>
          <p:cNvPr id="105" name="Google Shape;105;p3"/>
          <p:cNvSpPr txBox="1">
            <a:spLocks noGrp="1"/>
          </p:cNvSpPr>
          <p:nvPr>
            <p:ph type="body" idx="1"/>
          </p:nvPr>
        </p:nvSpPr>
        <p:spPr>
          <a:xfrm>
            <a:off x="838200" y="1842868"/>
            <a:ext cx="10515600" cy="3938954"/>
          </a:xfrm>
          <a:prstGeom prst="rect">
            <a:avLst/>
          </a:prstGeom>
          <a:noFill/>
          <a:ln>
            <a:noFill/>
          </a:ln>
        </p:spPr>
        <p:txBody>
          <a:bodyPr spcFirstLastPara="1" wrap="square" lIns="91425" tIns="45700" rIns="91425" bIns="45700" anchor="t" anchorCtr="0">
            <a:normAutofit/>
          </a:bodyPr>
          <a:lstStyle/>
          <a:p>
            <a:pPr marL="0" lvl="0" indent="0">
              <a:spcBef>
                <a:spcPts val="0"/>
              </a:spcBef>
              <a:buClr>
                <a:srgbClr val="FF0000"/>
              </a:buClr>
              <a:buSzPts val="2800"/>
              <a:buNone/>
            </a:pPr>
            <a:r>
              <a:rPr lang="en-US" sz="2400" dirty="0">
                <a:latin typeface="Arial Narrow"/>
                <a:ea typeface="Arial Narrow"/>
                <a:cs typeface="Arial Narrow"/>
                <a:sym typeface="Arial Narrow"/>
              </a:rPr>
              <a:t>1.</a:t>
            </a:r>
            <a:r>
              <a:rPr lang="en-US" altLang="en-US" sz="2400" dirty="0">
                <a:solidFill>
                  <a:schemeClr val="tx1"/>
                </a:solidFill>
                <a:latin typeface="Arial Narrow" panose="020B0606020202030204" pitchFamily="34" charset="0"/>
              </a:rPr>
              <a:t>To detect leaf regions accurately from image data using deep learning techniques.</a:t>
            </a:r>
          </a:p>
          <a:p>
            <a:pPr marL="0" lvl="0" indent="0">
              <a:spcBef>
                <a:spcPts val="0"/>
              </a:spcBef>
              <a:buClr>
                <a:srgbClr val="FF0000"/>
              </a:buClr>
              <a:buSzPts val="2800"/>
              <a:buNone/>
            </a:pPr>
            <a:endParaRPr lang="en-US" altLang="en-US" sz="2400" dirty="0">
              <a:solidFill>
                <a:schemeClr val="tx1"/>
              </a:solidFill>
              <a:latin typeface="Arial Narrow" panose="020B0606020202030204" pitchFamily="34" charset="0"/>
            </a:endParaRPr>
          </a:p>
          <a:p>
            <a:pPr marL="0" lvl="0" indent="0">
              <a:spcBef>
                <a:spcPts val="0"/>
              </a:spcBef>
              <a:buClr>
                <a:srgbClr val="FF0000"/>
              </a:buClr>
              <a:buSzPts val="2800"/>
              <a:buNone/>
            </a:pPr>
            <a:r>
              <a:rPr lang="en-US" sz="2400" dirty="0">
                <a:latin typeface="Arial Narrow"/>
                <a:ea typeface="Arial Narrow"/>
                <a:cs typeface="Arial Narrow"/>
                <a:sym typeface="Arial Narrow"/>
              </a:rPr>
              <a:t>2.</a:t>
            </a:r>
            <a:r>
              <a:rPr lang="en-US" altLang="en-US" sz="2400" dirty="0">
                <a:solidFill>
                  <a:schemeClr val="tx1"/>
                </a:solidFill>
                <a:latin typeface="Arial Narrow" panose="020B0606020202030204" pitchFamily="34" charset="0"/>
              </a:rPr>
              <a:t>To classify detected leaves into their respective species or disease categories.</a:t>
            </a:r>
          </a:p>
          <a:p>
            <a:pPr marL="0" lvl="0" indent="0">
              <a:spcBef>
                <a:spcPts val="0"/>
              </a:spcBef>
              <a:buClr>
                <a:srgbClr val="FF0000"/>
              </a:buClr>
              <a:buSzPts val="2800"/>
              <a:buNone/>
            </a:pPr>
            <a:endParaRPr lang="en-US" altLang="en-US" sz="2400" dirty="0">
              <a:solidFill>
                <a:schemeClr val="tx1"/>
              </a:solidFill>
              <a:latin typeface="Arial Narrow" panose="020B0606020202030204" pitchFamily="34" charset="0"/>
            </a:endParaRPr>
          </a:p>
          <a:p>
            <a:pPr marL="0" indent="0">
              <a:spcBef>
                <a:spcPts val="0"/>
              </a:spcBef>
              <a:buClr>
                <a:srgbClr val="FF0000"/>
              </a:buClr>
              <a:buSzPts val="2800"/>
              <a:buNone/>
            </a:pPr>
            <a:r>
              <a:rPr lang="en-US" altLang="en-US" sz="2400" dirty="0">
                <a:solidFill>
                  <a:schemeClr val="tx1"/>
                </a:solidFill>
                <a:latin typeface="Arial Narrow" panose="020B0606020202030204" pitchFamily="34" charset="0"/>
              </a:rPr>
              <a:t>3.To support automated agriculture, plant health monitoring, and crop management</a:t>
            </a:r>
            <a:r>
              <a:rPr lang="en-US" altLang="en-US" sz="1600" dirty="0">
                <a:solidFill>
                  <a:schemeClr val="tx1"/>
                </a:solidFill>
                <a:latin typeface="Arial" panose="020B0604020202020204" pitchFamily="34" charset="0"/>
              </a:rPr>
              <a:t>.</a:t>
            </a:r>
            <a:r>
              <a:rPr lang="en-US" sz="2400" dirty="0">
                <a:latin typeface="Arial Narrow" panose="020B0606020202030204" pitchFamily="34" charset="0"/>
              </a:rPr>
              <a:t>
</a:t>
            </a:r>
          </a:p>
          <a:p>
            <a:pPr marL="0" lvl="0" indent="0">
              <a:buClr>
                <a:srgbClr val="FF0000"/>
              </a:buClr>
              <a:buSzPts val="2800"/>
              <a:buNone/>
            </a:pPr>
            <a:endParaRPr sz="2400">
              <a:latin typeface="Arial Narrow"/>
              <a:ea typeface="Arial Narrow"/>
              <a:cs typeface="Arial Narrow"/>
              <a:sym typeface="Arial Narrow"/>
            </a:endParaRP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3</a:t>
            </a:fld>
            <a:endParaRPr b="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0"/>
            <a:ext cx="10515600" cy="949500"/>
          </a:xfrm>
          <a:prstGeom prst="rect">
            <a:avLst/>
          </a:prstGeom>
          <a:noFill/>
          <a:ln>
            <a:noFill/>
          </a:ln>
        </p:spPr>
        <p:txBody>
          <a:bodyPr spcFirstLastPara="1" wrap="square" lIns="91425" tIns="45700" rIns="91425" bIns="45700" anchor="ctr" anchorCtr="0">
            <a:normAutofit/>
          </a:bodyPr>
          <a:lstStyle/>
          <a:p>
            <a:pPr lvl="0" algn="ctr">
              <a:buSzPts val="4400"/>
            </a:pPr>
            <a:r>
              <a:rPr lang="en-US" b="1" dirty="0">
                <a:latin typeface="Arial Narrow"/>
                <a:ea typeface="Arial Narrow"/>
                <a:cs typeface="Arial Narrow"/>
                <a:sym typeface="Arial Narrow"/>
              </a:rPr>
              <a:t>INTRODUCTION</a:t>
            </a:r>
            <a:endParaRPr>
              <a:latin typeface="Arial Narrow"/>
              <a:ea typeface="Arial Narrow"/>
              <a:cs typeface="Arial Narrow"/>
              <a:sym typeface="Arial Narrow"/>
            </a:endParaRPr>
          </a:p>
        </p:txBody>
      </p:sp>
      <p:sp>
        <p:nvSpPr>
          <p:cNvPr id="105" name="Google Shape;105;p3"/>
          <p:cNvSpPr txBox="1">
            <a:spLocks noGrp="1"/>
          </p:cNvSpPr>
          <p:nvPr>
            <p:ph type="body" idx="1"/>
          </p:nvPr>
        </p:nvSpPr>
        <p:spPr>
          <a:xfrm>
            <a:off x="838200" y="1477108"/>
            <a:ext cx="10515600" cy="4304714"/>
          </a:xfrm>
          <a:prstGeom prst="rect">
            <a:avLst/>
          </a:prstGeom>
          <a:noFill/>
          <a:ln>
            <a:noFill/>
          </a:ln>
        </p:spPr>
        <p:txBody>
          <a:bodyPr spcFirstLastPara="1" wrap="square" lIns="91425" tIns="45700" rIns="91425" bIns="45700" anchor="t" anchorCtr="0">
            <a:normAutofit lnSpcReduction="10000"/>
          </a:bodyPr>
          <a:lstStyle/>
          <a:p>
            <a:pPr marL="0" indent="0">
              <a:spcBef>
                <a:spcPts val="0"/>
              </a:spcBef>
              <a:buClr>
                <a:srgbClr val="FF0000"/>
              </a:buClr>
              <a:buSzPts val="2800"/>
              <a:buNone/>
            </a:pPr>
            <a:r>
              <a:rPr lang="en-US" dirty="0">
                <a:latin typeface="Arial Narrow"/>
                <a:ea typeface="Arial Narrow"/>
                <a:cs typeface="Arial Narrow"/>
                <a:sym typeface="Arial Narrow"/>
              </a:rPr>
              <a:t>1.</a:t>
            </a:r>
            <a:r>
              <a:rPr lang="en-US" sz="2400" dirty="0">
                <a:latin typeface="Arial Narrow" pitchFamily="34" charset="0"/>
              </a:rPr>
              <a:t>Deep learning has revolutionized image processing with high accuracy in detection and classification. Its use in agriculture ensures better analysis of plant health and productivity.</a:t>
            </a:r>
            <a:endParaRPr sz="2400">
              <a:latin typeface="Arial Narrow" pitchFamily="34" charset="0"/>
              <a:ea typeface="Arial Narrow"/>
              <a:cs typeface="Arial Narrow"/>
              <a:sym typeface="Arial Narrow"/>
            </a:endParaRPr>
          </a:p>
          <a:p>
            <a:pPr marL="0" lvl="0" indent="0">
              <a:buClr>
                <a:srgbClr val="FF0000"/>
              </a:buClr>
              <a:buSzPts val="2800"/>
              <a:buNone/>
            </a:pPr>
            <a:r>
              <a:rPr lang="en-US" dirty="0">
                <a:latin typeface="Arial Narrow"/>
                <a:ea typeface="Arial Narrow"/>
                <a:cs typeface="Arial Narrow"/>
                <a:sym typeface="Arial Narrow"/>
              </a:rPr>
              <a:t>2.</a:t>
            </a:r>
            <a:r>
              <a:rPr lang="en-US" dirty="0">
                <a:latin typeface="Arial Narrow" panose="020B0606020202030204" pitchFamily="34" charset="0"/>
              </a:rPr>
              <a:t> </a:t>
            </a:r>
            <a:r>
              <a:rPr lang="en-US" sz="2400" dirty="0">
                <a:latin typeface="Arial Narrow" panose="020B0606020202030204" pitchFamily="34" charset="0"/>
              </a:rPr>
              <a:t>Leaves are essential indicators of plant species, growth, and disease conditions.</a:t>
            </a:r>
            <a:br>
              <a:rPr lang="en-US" sz="2400" dirty="0">
                <a:latin typeface="Arial Narrow" panose="020B0606020202030204" pitchFamily="34" charset="0"/>
              </a:rPr>
            </a:br>
            <a:r>
              <a:rPr lang="en-US" sz="2400" dirty="0">
                <a:latin typeface="Arial Narrow" panose="020B0606020202030204" pitchFamily="34" charset="0"/>
              </a:rPr>
              <a:t>Studying them helps in monitoring crop health and agricultural sustainability</a:t>
            </a:r>
            <a:r>
              <a:rPr lang="en-US" dirty="0">
                <a:latin typeface="Arial Narrow" panose="020B0606020202030204" pitchFamily="34" charset="0"/>
              </a:rPr>
              <a:t>.</a:t>
            </a:r>
            <a:endParaRPr>
              <a:latin typeface="Arial Narrow"/>
              <a:ea typeface="Arial Narrow"/>
              <a:cs typeface="Arial Narrow"/>
              <a:sym typeface="Arial Narrow"/>
            </a:endParaRPr>
          </a:p>
          <a:p>
            <a:pPr marL="0" lvl="0" indent="0">
              <a:buClr>
                <a:srgbClr val="FF0000"/>
              </a:buClr>
              <a:buSzPts val="2800"/>
              <a:buNone/>
            </a:pPr>
            <a:r>
              <a:rPr lang="en-US" dirty="0">
                <a:latin typeface="Arial Narrow"/>
                <a:ea typeface="Arial Narrow"/>
                <a:cs typeface="Arial Narrow"/>
                <a:sym typeface="Arial Narrow"/>
              </a:rPr>
              <a:t>3.</a:t>
            </a:r>
            <a:r>
              <a:rPr lang="en-US" dirty="0">
                <a:latin typeface="Arial Narrow" panose="020B0606020202030204" pitchFamily="34" charset="0"/>
              </a:rPr>
              <a:t> </a:t>
            </a:r>
            <a:r>
              <a:rPr lang="en-US" sz="2400" dirty="0">
                <a:latin typeface="Arial Narrow" panose="020B0606020202030204" pitchFamily="34" charset="0"/>
              </a:rPr>
              <a:t>Manual identification of plants and diseases is slow and often inaccurate.</a:t>
            </a:r>
            <a:br>
              <a:rPr lang="en-US" sz="2400" dirty="0">
                <a:latin typeface="Arial Narrow" panose="020B0606020202030204" pitchFamily="34" charset="0"/>
              </a:rPr>
            </a:br>
            <a:r>
              <a:rPr lang="en-US" sz="2400" dirty="0">
                <a:latin typeface="Arial Narrow" panose="020B0606020202030204" pitchFamily="34" charset="0"/>
              </a:rPr>
              <a:t>Automated systems using AI provide faster and more reliable results.</a:t>
            </a:r>
          </a:p>
          <a:p>
            <a:pPr marL="0" lvl="0" indent="0">
              <a:buClr>
                <a:srgbClr val="FF0000"/>
              </a:buClr>
              <a:buSzPts val="2800"/>
              <a:buNone/>
            </a:pPr>
            <a:r>
              <a:rPr lang="en-US" dirty="0">
                <a:latin typeface="Arial Narrow" panose="020B0606020202030204" pitchFamily="34" charset="0"/>
              </a:rPr>
              <a:t>4. </a:t>
            </a:r>
            <a:r>
              <a:rPr lang="en-US" sz="2400" dirty="0">
                <a:latin typeface="Arial Narrow" panose="020B0606020202030204" pitchFamily="34" charset="0"/>
              </a:rPr>
              <a:t>CNNs and advanced deep learning models extract fine details from leaf images.</a:t>
            </a:r>
            <a:br>
              <a:rPr lang="en-US" sz="2400" dirty="0">
                <a:latin typeface="Arial Narrow" panose="020B0606020202030204" pitchFamily="34" charset="0"/>
              </a:rPr>
            </a:br>
            <a:r>
              <a:rPr lang="en-US" sz="2400" dirty="0">
                <a:latin typeface="Arial Narrow" panose="020B0606020202030204" pitchFamily="34" charset="0"/>
              </a:rPr>
              <a:t>They can recognize patterns based on color, shape, and texture differences.</a:t>
            </a:r>
          </a:p>
          <a:p>
            <a:pPr marL="0" lvl="0" indent="0">
              <a:buClr>
                <a:srgbClr val="FF0000"/>
              </a:buClr>
              <a:buSzPts val="2800"/>
              <a:buNone/>
            </a:pPr>
            <a:r>
              <a:rPr lang="en-US" dirty="0">
                <a:latin typeface="Arial Narrow" panose="020B0606020202030204" pitchFamily="34" charset="0"/>
              </a:rPr>
              <a:t>5.</a:t>
            </a:r>
            <a:r>
              <a:rPr lang="en-US" sz="2400" dirty="0">
                <a:latin typeface="Arial Narrow" panose="020B0606020202030204" pitchFamily="34" charset="0"/>
              </a:rPr>
              <a:t>Such techniques promote precision farming and smart crop management.</a:t>
            </a:r>
            <a:br>
              <a:rPr lang="en-US" sz="2400" dirty="0">
                <a:latin typeface="Arial Narrow" panose="020B0606020202030204" pitchFamily="34" charset="0"/>
              </a:rPr>
            </a:br>
            <a:r>
              <a:rPr lang="en-US" sz="2400" dirty="0">
                <a:latin typeface="Arial Narrow" panose="020B0606020202030204" pitchFamily="34" charset="0"/>
              </a:rPr>
              <a:t>They support early disease detection, boosting yield and reducing losses.
</a:t>
            </a:r>
          </a:p>
          <a:p>
            <a:pPr marL="0" lvl="0" indent="0">
              <a:buClr>
                <a:srgbClr val="FF0000"/>
              </a:buClr>
              <a:buSzPts val="2800"/>
              <a:buNone/>
            </a:pPr>
            <a:endParaRPr sz="2400">
              <a:latin typeface="Arial Narrow"/>
              <a:ea typeface="Arial Narrow"/>
              <a:cs typeface="Arial Narrow"/>
              <a:sym typeface="Arial Narrow"/>
            </a:endParaRP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4</a:t>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5</a:t>
            </a:fld>
            <a:endParaRPr b="1">
              <a:solidFill>
                <a:schemeClr val="dk1"/>
              </a:solidFill>
            </a:endParaRPr>
          </a:p>
        </p:txBody>
      </p:sp>
      <p:sp>
        <p:nvSpPr>
          <p:cNvPr id="120" name="Google Shape;120;p5"/>
          <p:cNvSpPr/>
          <p:nvPr/>
        </p:nvSpPr>
        <p:spPr>
          <a:xfrm>
            <a:off x="68855" y="0"/>
            <a:ext cx="120543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a:solidFill>
                  <a:schemeClr val="dk1"/>
                </a:solidFill>
                <a:latin typeface="Arial Narrow"/>
                <a:ea typeface="Arial Narrow"/>
                <a:cs typeface="Arial Narrow"/>
                <a:sym typeface="Arial Narrow"/>
              </a:rPr>
              <a:t>LITERATURE SURVEY</a:t>
            </a:r>
            <a:endParaRPr>
              <a:latin typeface="Arial Narrow"/>
              <a:ea typeface="Arial Narrow"/>
              <a:cs typeface="Arial Narrow"/>
              <a:sym typeface="Arial Narrow"/>
            </a:endParaRPr>
          </a:p>
        </p:txBody>
      </p:sp>
      <p:graphicFrame>
        <p:nvGraphicFramePr>
          <p:cNvPr id="2" name="Google Shape;121;p5">
            <a:extLst>
              <a:ext uri="{FF2B5EF4-FFF2-40B4-BE49-F238E27FC236}">
                <a16:creationId xmlns:a16="http://schemas.microsoft.com/office/drawing/2014/main" id="{883D6DB7-0300-D442-1179-8F28DBB4EC8A}"/>
              </a:ext>
            </a:extLst>
          </p:cNvPr>
          <p:cNvGraphicFramePr/>
          <p:nvPr>
            <p:extLst>
              <p:ext uri="{D42A27DB-BD31-4B8C-83A1-F6EECF244321}">
                <p14:modId xmlns:p14="http://schemas.microsoft.com/office/powerpoint/2010/main" val="949898998"/>
              </p:ext>
            </p:extLst>
          </p:nvPr>
        </p:nvGraphicFramePr>
        <p:xfrm>
          <a:off x="120790" y="593711"/>
          <a:ext cx="11985475" cy="5804952"/>
        </p:xfrm>
        <a:graphic>
          <a:graphicData uri="http://schemas.openxmlformats.org/drawingml/2006/table">
            <a:tbl>
              <a:tblPr firstRow="1" bandRow="1">
                <a:noFill/>
                <a:tableStyleId>{3CDD818E-ADFA-4579-856F-A3140DA02BD1}</a:tableStyleId>
              </a:tblPr>
              <a:tblGrid>
                <a:gridCol w="2975900">
                  <a:extLst>
                    <a:ext uri="{9D8B030D-6E8A-4147-A177-3AD203B41FA5}">
                      <a16:colId xmlns:a16="http://schemas.microsoft.com/office/drawing/2014/main" val="20000"/>
                    </a:ext>
                  </a:extLst>
                </a:gridCol>
                <a:gridCol w="2975900">
                  <a:extLst>
                    <a:ext uri="{9D8B030D-6E8A-4147-A177-3AD203B41FA5}">
                      <a16:colId xmlns:a16="http://schemas.microsoft.com/office/drawing/2014/main" val="20001"/>
                    </a:ext>
                  </a:extLst>
                </a:gridCol>
                <a:gridCol w="2975900">
                  <a:extLst>
                    <a:ext uri="{9D8B030D-6E8A-4147-A177-3AD203B41FA5}">
                      <a16:colId xmlns:a16="http://schemas.microsoft.com/office/drawing/2014/main" val="20002"/>
                    </a:ext>
                  </a:extLst>
                </a:gridCol>
                <a:gridCol w="3057775">
                  <a:extLst>
                    <a:ext uri="{9D8B030D-6E8A-4147-A177-3AD203B41FA5}">
                      <a16:colId xmlns:a16="http://schemas.microsoft.com/office/drawing/2014/main" val="20003"/>
                    </a:ext>
                  </a:extLst>
                </a:gridCol>
              </a:tblGrid>
              <a:tr h="470902">
                <a:tc>
                  <a:txBody>
                    <a:bodyPr/>
                    <a:lstStyle/>
                    <a:p>
                      <a:pPr marL="0" marR="0" lvl="0" indent="0" algn="ctr" rtl="0">
                        <a:spcBef>
                          <a:spcPts val="0"/>
                        </a:spcBef>
                        <a:spcAft>
                          <a:spcPts val="0"/>
                        </a:spcAft>
                        <a:buNone/>
                      </a:pPr>
                      <a:r>
                        <a:rPr lang="en-US" sz="2400" u="none" strike="noStrike" cap="none">
                          <a:solidFill>
                            <a:schemeClr val="dk1"/>
                          </a:solidFill>
                          <a:latin typeface="Arial Narrow"/>
                          <a:ea typeface="Arial Narrow"/>
                          <a:cs typeface="Arial Narrow"/>
                          <a:sym typeface="Arial Narrow"/>
                        </a:rPr>
                        <a:t>TITLE</a:t>
                      </a:r>
                      <a:endParaRPr sz="2400" u="none" strike="noStrike" cap="none">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a:solidFill>
                            <a:schemeClr val="dk1"/>
                          </a:solidFill>
                          <a:latin typeface="Arial Narrow"/>
                          <a:ea typeface="Arial Narrow"/>
                          <a:cs typeface="Arial Narrow"/>
                          <a:sym typeface="Arial Narrow"/>
                        </a:rPr>
                        <a:t>AUTHORS</a:t>
                      </a:r>
                      <a:endParaRPr sz="2400" u="none" strike="noStrike" cap="none">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a:solidFill>
                            <a:schemeClr val="dk1"/>
                          </a:solidFill>
                          <a:latin typeface="Arial Narrow"/>
                          <a:ea typeface="Arial Narrow"/>
                          <a:cs typeface="Arial Narrow"/>
                          <a:sym typeface="Arial Narrow"/>
                        </a:rPr>
                        <a:t>PUBLISHER</a:t>
                      </a:r>
                      <a:endParaRPr sz="2400" u="none" strike="noStrike" cap="none">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latin typeface="Arial Narrow"/>
                          <a:ea typeface="Arial Narrow"/>
                          <a:cs typeface="Arial Narrow"/>
                          <a:sym typeface="Arial Narrow"/>
                        </a:rPr>
                        <a:t>TECHNOLOGY USED</a:t>
                      </a:r>
                      <a:endParaRPr sz="2400" u="none" strike="noStrike" cap="none" dirty="0">
                        <a:solidFill>
                          <a:schemeClr val="dk1"/>
                        </a:solidFill>
                        <a:latin typeface="Arial Narrow"/>
                        <a:ea typeface="Arial Narrow"/>
                        <a:cs typeface="Arial Narrow"/>
                        <a:sym typeface="Arial Narrow"/>
                      </a:endParaRPr>
                    </a:p>
                  </a:txBody>
                  <a:tcPr marL="91450" marR="91450" marT="45725" marB="45725"/>
                </a:tc>
                <a:extLst>
                  <a:ext uri="{0D108BD9-81ED-4DB2-BD59-A6C34878D82A}">
                    <a16:rowId xmlns:a16="http://schemas.microsoft.com/office/drawing/2014/main" val="10000"/>
                  </a:ext>
                </a:extLst>
              </a:tr>
              <a:tr h="924210">
                <a:tc>
                  <a:txBody>
                    <a:bodyPr/>
                    <a:lstStyle/>
                    <a:p>
                      <a:pPr marL="0" marR="0" lvl="0" indent="0" algn="ctr" rtl="0">
                        <a:spcBef>
                          <a:spcPts val="0"/>
                        </a:spcBef>
                        <a:spcAft>
                          <a:spcPts val="0"/>
                        </a:spcAft>
                        <a:buNone/>
                      </a:pPr>
                      <a:r>
                        <a:rPr lang="en-US" sz="2000" dirty="0">
                          <a:latin typeface="Arial Narrow" panose="020B0606020202030204" pitchFamily="34" charset="0"/>
                        </a:rPr>
                        <a:t>Soybean Disease Detection via Interpretable Hybrid CNN-GNN</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u="none" strike="noStrike" cap="none" dirty="0">
                          <a:solidFill>
                            <a:schemeClr val="dk1"/>
                          </a:solidFill>
                          <a:latin typeface="Arial Narrow" panose="020B0606020202030204" pitchFamily="34" charset="0"/>
                          <a:ea typeface="Arial Narrow"/>
                          <a:cs typeface="Arial Narrow"/>
                          <a:sym typeface="Arial Narrow"/>
                        </a:rPr>
                        <a:t>Jahin et al. </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000" i="1" dirty="0">
                          <a:latin typeface="Arial Narrow" panose="020B0606020202030204" pitchFamily="34" charset="0"/>
                        </a:rPr>
                        <a:t>2025/</a:t>
                      </a:r>
                      <a:r>
                        <a:rPr lang="en-US" sz="2000" i="1" dirty="0" err="1">
                          <a:latin typeface="Arial Narrow" panose="020B0606020202030204" pitchFamily="34" charset="0"/>
                        </a:rPr>
                        <a:t>IEEETransactions</a:t>
                      </a:r>
                      <a:r>
                        <a:rPr lang="en-US" sz="2000" i="1" dirty="0">
                          <a:latin typeface="Arial Narrow" panose="020B0606020202030204" pitchFamily="34" charset="0"/>
                        </a:rPr>
                        <a:t> on Computational Social Systems</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u="none" strike="noStrike" cap="none" dirty="0">
                          <a:solidFill>
                            <a:schemeClr val="dk1"/>
                          </a:solidFill>
                          <a:latin typeface="Arial Narrow" panose="020B0606020202030204" pitchFamily="34" charset="0"/>
                          <a:ea typeface="Arial Narrow"/>
                          <a:cs typeface="Arial Narrow"/>
                          <a:sym typeface="Arial Narrow"/>
                        </a:rPr>
                        <a:t>CNN+GNN(</a:t>
                      </a:r>
                      <a:r>
                        <a:rPr lang="en-IN" sz="2000" u="none" strike="noStrike" cap="none" dirty="0" err="1">
                          <a:solidFill>
                            <a:schemeClr val="dk1"/>
                          </a:solidFill>
                          <a:latin typeface="Arial Narrow" panose="020B0606020202030204" pitchFamily="34" charset="0"/>
                          <a:ea typeface="Arial Narrow"/>
                          <a:cs typeface="Arial Narrow"/>
                          <a:sym typeface="Arial Narrow"/>
                        </a:rPr>
                        <a:t>GraphSAGE</a:t>
                      </a:r>
                      <a:r>
                        <a:rPr lang="en-IN" sz="2000" u="none" strike="noStrike" cap="none" dirty="0">
                          <a:solidFill>
                            <a:schemeClr val="dk1"/>
                          </a:solidFill>
                          <a:latin typeface="Arial Narrow" panose="020B0606020202030204" pitchFamily="34" charset="0"/>
                          <a:ea typeface="Arial Narrow"/>
                          <a:cs typeface="Arial Narrow"/>
                          <a:sym typeface="Arial Narrow"/>
                        </a:rPr>
                        <a:t>),</a:t>
                      </a:r>
                    </a:p>
                    <a:p>
                      <a:pPr marL="0" marR="0" lvl="0" indent="0" algn="ctr" rtl="0">
                        <a:spcBef>
                          <a:spcPts val="0"/>
                        </a:spcBef>
                        <a:spcAft>
                          <a:spcPts val="0"/>
                        </a:spcAft>
                        <a:buNone/>
                      </a:pPr>
                      <a:r>
                        <a:rPr lang="en-IN" sz="2000" u="none" strike="noStrike" cap="none" dirty="0">
                          <a:solidFill>
                            <a:schemeClr val="dk1"/>
                          </a:solidFill>
                          <a:latin typeface="Arial Narrow" panose="020B0606020202030204" pitchFamily="34" charset="0"/>
                          <a:ea typeface="Arial Narrow"/>
                          <a:cs typeface="Arial Narrow"/>
                          <a:sym typeface="Arial Narrow"/>
                        </a:rPr>
                        <a:t>Grad-CAM</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extLst>
                  <a:ext uri="{0D108BD9-81ED-4DB2-BD59-A6C34878D82A}">
                    <a16:rowId xmlns:a16="http://schemas.microsoft.com/office/drawing/2014/main" val="10001"/>
                  </a:ext>
                </a:extLst>
              </a:tr>
              <a:tr h="752265">
                <a:tc>
                  <a:txBody>
                    <a:bodyPr/>
                    <a:lstStyle/>
                    <a:p>
                      <a:pPr marL="0" marR="0" lvl="0" indent="0" algn="ctr" rtl="0">
                        <a:spcBef>
                          <a:spcPts val="0"/>
                        </a:spcBef>
                        <a:spcAft>
                          <a:spcPts val="0"/>
                        </a:spcAft>
                        <a:buNone/>
                      </a:pPr>
                      <a:r>
                        <a:rPr lang="en-US" sz="2000" dirty="0">
                          <a:latin typeface="Arial Narrow" panose="020B0606020202030204" pitchFamily="34" charset="0"/>
                        </a:rPr>
                        <a:t>Enhancing Leaf  Classification Using GAT-GCN Hybrid Model</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dirty="0">
                          <a:latin typeface="Arial Narrow" panose="020B0606020202030204" pitchFamily="34" charset="0"/>
                        </a:rPr>
                        <a:t>Sundhar et al.</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r>
                        <a:rPr lang="en-US" sz="2000" i="1" dirty="0">
                          <a:latin typeface="Arial Narrow" panose="020B0606020202030204" pitchFamily="34" charset="0"/>
                        </a:rPr>
                        <a:t>2025/Computers and Electronics in Agriculture</a:t>
                      </a:r>
                      <a:endParaRPr lang="en-GB" sz="2000" dirty="0">
                        <a:latin typeface="Arial Narrow" panose="020B0606020202030204" pitchFamily="34" charset="0"/>
                      </a:endParaRPr>
                    </a:p>
                  </a:txBody>
                  <a:tcPr marL="91450" marR="91450" marT="45725" marB="45725"/>
                </a:tc>
                <a:tc>
                  <a:txBody>
                    <a:bodyPr/>
                    <a:lstStyle/>
                    <a:p>
                      <a:pPr marL="0" marR="0" lvl="0" indent="0" algn="ctr" rtl="0">
                        <a:spcBef>
                          <a:spcPts val="0"/>
                        </a:spcBef>
                        <a:spcAft>
                          <a:spcPts val="0"/>
                        </a:spcAft>
                        <a:buNone/>
                      </a:pPr>
                      <a:r>
                        <a:rPr lang="en-US" sz="2000" dirty="0">
                          <a:latin typeface="Arial Narrow" panose="020B0606020202030204" pitchFamily="34" charset="0"/>
                        </a:rPr>
                        <a:t>GAT-GCN Hybrid</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extLst>
                  <a:ext uri="{0D108BD9-81ED-4DB2-BD59-A6C34878D82A}">
                    <a16:rowId xmlns:a16="http://schemas.microsoft.com/office/drawing/2014/main" val="10002"/>
                  </a:ext>
                </a:extLst>
              </a:tr>
              <a:tr h="580320">
                <a:tc>
                  <a:txBody>
                    <a:bodyPr/>
                    <a:lstStyle/>
                    <a:p>
                      <a:pPr marL="0" marR="0" lvl="0" indent="0" algn="ctr" rtl="0">
                        <a:spcBef>
                          <a:spcPts val="0"/>
                        </a:spcBef>
                        <a:spcAft>
                          <a:spcPts val="0"/>
                        </a:spcAft>
                        <a:buNone/>
                      </a:pPr>
                      <a:r>
                        <a:rPr lang="en-US" sz="2000" u="none" strike="noStrike" cap="none" dirty="0">
                          <a:solidFill>
                            <a:schemeClr val="dk1"/>
                          </a:solidFill>
                          <a:latin typeface="Arial Narrow" panose="020B0606020202030204" pitchFamily="34" charset="0"/>
                          <a:ea typeface="Arial Narrow"/>
                          <a:cs typeface="Arial Narrow"/>
                          <a:sym typeface="Arial Narrow"/>
                        </a:rPr>
                        <a:t>Plant Leaf Disease Detection Using Deep Learning: A Multi-Dataset Approach</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r>
                        <a:rPr lang="en-IN" sz="2000" dirty="0">
                          <a:latin typeface="Arial Narrow" panose="020B0606020202030204" pitchFamily="34" charset="0"/>
                        </a:rPr>
                        <a:t>             Krishna et al</a:t>
                      </a:r>
                      <a:endParaRPr lang="en-GB" sz="2000" dirty="0">
                        <a:latin typeface="Arial Narrow" panose="020B0606020202030204" pitchFamily="34" charset="0"/>
                      </a:endParaRPr>
                    </a:p>
                  </a:txBody>
                  <a:tcPr marL="91450" marR="91450" marT="45725" marB="45725"/>
                </a:tc>
                <a:tc>
                  <a:txBody>
                    <a:bodyPr/>
                    <a:lstStyle/>
                    <a:p>
                      <a:pPr marL="0" marR="0" lvl="0" indent="0" algn="ctr" rtl="0">
                        <a:spcBef>
                          <a:spcPts val="0"/>
                        </a:spcBef>
                        <a:spcAft>
                          <a:spcPts val="0"/>
                        </a:spcAft>
                        <a:buNone/>
                      </a:pPr>
                      <a:r>
                        <a:rPr lang="en-US" sz="2000" i="1" dirty="0">
                          <a:latin typeface="Arial Narrow" panose="020B0606020202030204" pitchFamily="34" charset="0"/>
                        </a:rPr>
                        <a:t>2025/Expert Systems with Application</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u="none" strike="noStrike" cap="none" dirty="0">
                          <a:solidFill>
                            <a:schemeClr val="dk1"/>
                          </a:solidFill>
                          <a:latin typeface="Arial Narrow" panose="020B0606020202030204" pitchFamily="34" charset="0"/>
                          <a:ea typeface="Arial Narrow"/>
                          <a:cs typeface="Arial Narrow"/>
                          <a:sym typeface="Arial Narrow"/>
                        </a:rPr>
                        <a:t>Multi-dataset Deep Learning</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extLst>
                  <a:ext uri="{0D108BD9-81ED-4DB2-BD59-A6C34878D82A}">
                    <a16:rowId xmlns:a16="http://schemas.microsoft.com/office/drawing/2014/main" val="10003"/>
                  </a:ext>
                </a:extLst>
              </a:tr>
              <a:tr h="924210">
                <a:tc>
                  <a:txBody>
                    <a:bodyPr/>
                    <a:lstStyle/>
                    <a:p>
                      <a:pPr marL="0" marR="0" lvl="0" indent="0" algn="ctr" rtl="0">
                        <a:spcBef>
                          <a:spcPts val="0"/>
                        </a:spcBef>
                        <a:spcAft>
                          <a:spcPts val="0"/>
                        </a:spcAft>
                        <a:buNone/>
                      </a:pPr>
                      <a:r>
                        <a:rPr lang="en-US" sz="2000" dirty="0">
                          <a:latin typeface="Arial Narrow" panose="020B0606020202030204" pitchFamily="34" charset="0"/>
                        </a:rPr>
                        <a:t>Multi-Class Plant Leaf Disease Detection: A CNN-Based Approach with Mobile App Integration</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dirty="0">
                          <a:latin typeface="Arial Narrow" panose="020B0606020202030204" pitchFamily="34" charset="0"/>
                        </a:rPr>
                        <a:t>Brahimi, Mohamed, </a:t>
                      </a:r>
                      <a:r>
                        <a:rPr lang="en-IN" sz="2000" dirty="0" err="1">
                          <a:latin typeface="Arial Narrow" panose="020B0606020202030204" pitchFamily="34" charset="0"/>
                        </a:rPr>
                        <a:t>Arsenovic</a:t>
                      </a:r>
                      <a:r>
                        <a:rPr lang="en-IN" sz="2000" dirty="0">
                          <a:latin typeface="Arial Narrow" panose="020B0606020202030204" pitchFamily="34" charset="0"/>
                        </a:rPr>
                        <a:t>, Marko, et al.</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i="1">
                          <a:latin typeface="Arial Narrow" panose="020B0606020202030204" pitchFamily="34" charset="0"/>
                        </a:rPr>
                        <a:t>2024/Ecologic al Informatics</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000" dirty="0">
                          <a:latin typeface="Arial Narrow" panose="020B0606020202030204" pitchFamily="34" charset="0"/>
                        </a:rPr>
                        <a:t>Hybrid CNN architectures with large dataset training</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extLst>
                  <a:ext uri="{0D108BD9-81ED-4DB2-BD59-A6C34878D82A}">
                    <a16:rowId xmlns:a16="http://schemas.microsoft.com/office/drawing/2014/main" val="10004"/>
                  </a:ext>
                </a:extLst>
              </a:tr>
              <a:tr h="752265">
                <a:tc>
                  <a:txBody>
                    <a:bodyPr/>
                    <a:lstStyle/>
                    <a:p>
                      <a:pPr marL="0" marR="0" lvl="0" indent="0" algn="ctr" rtl="0">
                        <a:spcBef>
                          <a:spcPts val="0"/>
                        </a:spcBef>
                        <a:spcAft>
                          <a:spcPts val="0"/>
                        </a:spcAft>
                        <a:buNone/>
                      </a:pPr>
                      <a:r>
                        <a:rPr lang="en-US" sz="2000" dirty="0">
                          <a:latin typeface="Arial Narrow" panose="020B0606020202030204" pitchFamily="34" charset="0"/>
                        </a:rPr>
                        <a:t>A Review of Deep Learning Techniques for Plant Disease Detection</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dirty="0">
                          <a:latin typeface="Arial Narrow" panose="020B0606020202030204" pitchFamily="34" charset="0"/>
                        </a:rPr>
                        <a:t>Kamal, Khushboo, et al.</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IN" sz="2000" i="1" dirty="0">
                          <a:latin typeface="Arial Narrow" panose="020B0606020202030204" pitchFamily="34" charset="0"/>
                        </a:rPr>
                        <a:t>Artificial Intelligence in Agriculture</a:t>
                      </a:r>
                      <a:r>
                        <a:rPr lang="en-IN" sz="2000" dirty="0">
                          <a:latin typeface="Arial Narrow" panose="020B0606020202030204" pitchFamily="34" charset="0"/>
                        </a:rPr>
                        <a:t>, 2020</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000" dirty="0">
                          <a:latin typeface="Arial Narrow" panose="020B0606020202030204" pitchFamily="34" charset="0"/>
                        </a:rPr>
                        <a:t>Survey of CNN, RNN, GAN models applied to plant leaves</a:t>
                      </a:r>
                      <a:endParaRPr sz="2000" u="none" strike="noStrike" cap="none" dirty="0">
                        <a:solidFill>
                          <a:schemeClr val="dk1"/>
                        </a:solidFill>
                        <a:latin typeface="Arial Narrow" panose="020B0606020202030204" pitchFamily="34" charset="0"/>
                        <a:ea typeface="Arial Narrow"/>
                        <a:cs typeface="Arial Narrow"/>
                        <a:sym typeface="Arial Narrow"/>
                      </a:endParaRPr>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6</a:t>
            </a:fld>
            <a:endParaRPr b="1">
              <a:solidFill>
                <a:schemeClr val="dk1"/>
              </a:solidFill>
            </a:endParaRPr>
          </a:p>
        </p:txBody>
      </p:sp>
      <p:sp>
        <p:nvSpPr>
          <p:cNvPr id="127" name="Google Shape;127;p6"/>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EXISTING SYSTEM </a:t>
            </a:r>
            <a:r>
              <a:rPr lang="en-US" dirty="0"/>
              <a:t>ARCHITECTURE</a:t>
            </a:r>
            <a:endParaRPr dirty="0">
              <a:sym typeface="Arial Narrow"/>
            </a:endParaRPr>
          </a:p>
        </p:txBody>
      </p:sp>
      <p:pic>
        <p:nvPicPr>
          <p:cNvPr id="7" name="Picture 6">
            <a:extLst>
              <a:ext uri="{FF2B5EF4-FFF2-40B4-BE49-F238E27FC236}">
                <a16:creationId xmlns:a16="http://schemas.microsoft.com/office/drawing/2014/main" id="{D5D18CD9-5BD7-4E46-9AC4-7D32084B9171}"/>
              </a:ext>
            </a:extLst>
          </p:cNvPr>
          <p:cNvPicPr>
            <a:picLocks noChangeAspect="1"/>
          </p:cNvPicPr>
          <p:nvPr/>
        </p:nvPicPr>
        <p:blipFill>
          <a:blip r:embed="rId3"/>
          <a:stretch>
            <a:fillRect/>
          </a:stretch>
        </p:blipFill>
        <p:spPr>
          <a:xfrm>
            <a:off x="991626" y="731518"/>
            <a:ext cx="10439400" cy="56411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7FEFE7C5-B014-B248-A280-1360BE6D6E01}"/>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8DDF3340-775D-1206-5F9C-2A604B9E05F7}"/>
              </a:ext>
            </a:extLst>
          </p:cNvPr>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7</a:t>
            </a:fld>
            <a:endParaRPr b="1">
              <a:solidFill>
                <a:schemeClr val="dk1"/>
              </a:solidFill>
            </a:endParaRPr>
          </a:p>
        </p:txBody>
      </p:sp>
      <p:sp>
        <p:nvSpPr>
          <p:cNvPr id="127" name="Google Shape;127;p6">
            <a:extLst>
              <a:ext uri="{FF2B5EF4-FFF2-40B4-BE49-F238E27FC236}">
                <a16:creationId xmlns:a16="http://schemas.microsoft.com/office/drawing/2014/main" id="{1F26A455-1F7F-0E24-548B-1E2404FC73D5}"/>
              </a:ext>
            </a:extLst>
          </p:cNvPr>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PROBLEM IDENTIFICAITON</a:t>
            </a:r>
            <a:endParaRPr dirty="0">
              <a:sym typeface="Arial Narrow"/>
            </a:endParaRPr>
          </a:p>
        </p:txBody>
      </p:sp>
      <p:sp>
        <p:nvSpPr>
          <p:cNvPr id="3" name="TextBox 2">
            <a:extLst>
              <a:ext uri="{FF2B5EF4-FFF2-40B4-BE49-F238E27FC236}">
                <a16:creationId xmlns:a16="http://schemas.microsoft.com/office/drawing/2014/main" id="{22ABDA42-5836-D2E3-1290-9E9478C88B40}"/>
              </a:ext>
            </a:extLst>
          </p:cNvPr>
          <p:cNvSpPr txBox="1"/>
          <p:nvPr/>
        </p:nvSpPr>
        <p:spPr>
          <a:xfrm>
            <a:off x="740229" y="1034142"/>
            <a:ext cx="10787742" cy="2322687"/>
          </a:xfrm>
          <a:prstGeom prst="rect">
            <a:avLst/>
          </a:prstGeom>
          <a:noFill/>
        </p:spPr>
        <p:txBody>
          <a:bodyPr wrap="square">
            <a:spAutoFit/>
          </a:bodyPr>
          <a:lstStyle/>
          <a:p>
            <a:pPr lvl="0">
              <a:lnSpc>
                <a:spcPct val="90000"/>
              </a:lnSpc>
              <a:buClr>
                <a:schemeClr val="dk1"/>
              </a:buClr>
              <a:buSzPts val="2800"/>
            </a:pPr>
            <a:r>
              <a:rPr lang="en-US" sz="2400" dirty="0">
                <a:latin typeface="Arial Narrow" panose="020B0606020202030204" pitchFamily="34" charset="0"/>
              </a:rPr>
              <a:t>1. Manual leaf disease identification is slow and prone to human error.</a:t>
            </a:r>
          </a:p>
          <a:p>
            <a:pPr lvl="0">
              <a:lnSpc>
                <a:spcPct val="90000"/>
              </a:lnSpc>
              <a:spcBef>
                <a:spcPts val="1000"/>
              </a:spcBef>
              <a:buClr>
                <a:schemeClr val="dk1"/>
              </a:buClr>
              <a:buSzPts val="2800"/>
            </a:pPr>
            <a:r>
              <a:rPr lang="en-US" sz="2400" dirty="0">
                <a:latin typeface="Arial Narrow" panose="020B0606020202030204" pitchFamily="34" charset="0"/>
              </a:rPr>
              <a:t>2. Farmers cannot analyze large numbers of leaf images accurately.</a:t>
            </a:r>
          </a:p>
          <a:p>
            <a:pPr lvl="0">
              <a:lnSpc>
                <a:spcPct val="90000"/>
              </a:lnSpc>
              <a:spcBef>
                <a:spcPts val="1000"/>
              </a:spcBef>
              <a:buClr>
                <a:schemeClr val="dk1"/>
              </a:buClr>
              <a:buSzPts val="2800"/>
            </a:pPr>
            <a:r>
              <a:rPr lang="en-US" sz="2400" dirty="0">
                <a:latin typeface="Arial Narrow" panose="020B0606020202030204" pitchFamily="34" charset="0"/>
              </a:rPr>
              <a:t>3. Traditional image-processing methods fail in complex backgrounds.</a:t>
            </a:r>
          </a:p>
          <a:p>
            <a:pPr lvl="0">
              <a:lnSpc>
                <a:spcPct val="90000"/>
              </a:lnSpc>
              <a:spcBef>
                <a:spcPts val="1000"/>
              </a:spcBef>
              <a:buClr>
                <a:schemeClr val="dk1"/>
              </a:buClr>
              <a:buSzPts val="2800"/>
            </a:pPr>
            <a:r>
              <a:rPr lang="en-US" sz="2400" dirty="0">
                <a:latin typeface="Arial Narrow" panose="020B0606020202030204" pitchFamily="34" charset="0"/>
              </a:rPr>
              <a:t>4. Early disease detection is difficult, leading to crop damage and low yield.</a:t>
            </a:r>
          </a:p>
          <a:p>
            <a:pPr lvl="0">
              <a:lnSpc>
                <a:spcPct val="90000"/>
              </a:lnSpc>
              <a:spcBef>
                <a:spcPts val="1000"/>
              </a:spcBef>
              <a:buClr>
                <a:schemeClr val="dk1"/>
              </a:buClr>
              <a:buSzPts val="2800"/>
            </a:pPr>
            <a:r>
              <a:rPr lang="en-US" sz="2400" dirty="0">
                <a:latin typeface="Arial Narrow" panose="020B0606020202030204" pitchFamily="34" charset="0"/>
              </a:rPr>
              <a:t>5. There is no automated system to detect and classify leaf diseases efficiently.</a:t>
            </a:r>
          </a:p>
        </p:txBody>
      </p:sp>
    </p:spTree>
    <p:extLst>
      <p:ext uri="{BB962C8B-B14F-4D97-AF65-F5344CB8AC3E}">
        <p14:creationId xmlns:p14="http://schemas.microsoft.com/office/powerpoint/2010/main" val="3014861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8</a:t>
            </a:fld>
            <a:endParaRPr b="1">
              <a:solidFill>
                <a:schemeClr val="dk1"/>
              </a:solidFill>
            </a:endParaRPr>
          </a:p>
        </p:txBody>
      </p:sp>
      <p:sp>
        <p:nvSpPr>
          <p:cNvPr id="133" name="Google Shape;133;p7"/>
          <p:cNvSpPr txBox="1"/>
          <p:nvPr/>
        </p:nvSpPr>
        <p:spPr>
          <a:xfrm>
            <a:off x="-1" y="0"/>
            <a:ext cx="12192000" cy="708000"/>
          </a:xfrm>
          <a:prstGeom prst="rect">
            <a:avLst/>
          </a:prstGeom>
          <a:noFill/>
          <a:ln>
            <a:noFill/>
          </a:ln>
        </p:spPr>
        <p:txBody>
          <a:bodyPr spcFirstLastPara="1" wrap="square" lIns="91425" tIns="45700" rIns="91425" bIns="45700" anchor="t" anchorCtr="0">
            <a:spAutoFit/>
          </a:bodyPr>
          <a:lstStyle/>
          <a:p>
            <a:pPr lvl="0" algn="ctr"/>
            <a:r>
              <a:rPr lang="en-US" sz="4000" b="1" dirty="0">
                <a:solidFill>
                  <a:schemeClr val="dk1"/>
                </a:solidFill>
                <a:latin typeface="Arial Narrow"/>
                <a:ea typeface="Arial Narrow"/>
                <a:cs typeface="Arial Narrow"/>
                <a:sym typeface="Arial Narrow"/>
              </a:rPr>
              <a:t>PROPOSED </a:t>
            </a:r>
            <a:r>
              <a:rPr lang="en-US" sz="4000" b="1">
                <a:solidFill>
                  <a:schemeClr val="dk1"/>
                </a:solidFill>
                <a:latin typeface="Arial Narrow"/>
                <a:ea typeface="Arial Narrow"/>
                <a:cs typeface="Arial Narrow"/>
                <a:sym typeface="Arial Narrow"/>
              </a:rPr>
              <a:t>SYSTEM </a:t>
            </a:r>
            <a:r>
              <a:rPr lang="en-US" sz="4000" b="1" dirty="0">
                <a:solidFill>
                  <a:schemeClr val="dk1"/>
                </a:solidFill>
                <a:latin typeface="Arial Narrow"/>
              </a:rPr>
              <a:t>ARCHITECTURE</a:t>
            </a:r>
            <a:endParaRPr sz="4000" b="1" dirty="0">
              <a:solidFill>
                <a:schemeClr val="dk1"/>
              </a:solidFill>
              <a:latin typeface="Arial Narrow"/>
              <a:sym typeface="Arial Narrow"/>
            </a:endParaRPr>
          </a:p>
        </p:txBody>
      </p:sp>
      <p:pic>
        <p:nvPicPr>
          <p:cNvPr id="4" name="Picture 3">
            <a:extLst>
              <a:ext uri="{FF2B5EF4-FFF2-40B4-BE49-F238E27FC236}">
                <a16:creationId xmlns:a16="http://schemas.microsoft.com/office/drawing/2014/main" id="{C88F543B-226F-42D4-88D4-D57C1A7455EE}"/>
              </a:ext>
            </a:extLst>
          </p:cNvPr>
          <p:cNvPicPr>
            <a:picLocks noChangeAspect="1"/>
          </p:cNvPicPr>
          <p:nvPr/>
        </p:nvPicPr>
        <p:blipFill>
          <a:blip r:embed="rId3"/>
          <a:stretch>
            <a:fillRect/>
          </a:stretch>
        </p:blipFill>
        <p:spPr>
          <a:xfrm>
            <a:off x="882161" y="0"/>
            <a:ext cx="10287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0" y="0"/>
            <a:ext cx="12192000" cy="823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SOFTWARE AND HARDWARE REQUIREMENTS </a:t>
            </a:r>
            <a:endParaRPr>
              <a:latin typeface="Arial Narrow"/>
              <a:ea typeface="Arial Narrow"/>
              <a:cs typeface="Arial Narrow"/>
              <a:sym typeface="Arial Narrow"/>
            </a:endParaRPr>
          </a:p>
        </p:txBody>
      </p:sp>
      <p:sp>
        <p:nvSpPr>
          <p:cNvPr id="139" name="Google Shape;139;p8"/>
          <p:cNvSpPr txBox="1">
            <a:spLocks noGrp="1"/>
          </p:cNvSpPr>
          <p:nvPr>
            <p:ph type="body" idx="2"/>
          </p:nvPr>
        </p:nvSpPr>
        <p:spPr>
          <a:xfrm>
            <a:off x="265938" y="2671762"/>
            <a:ext cx="5157900" cy="3684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Font typeface="Arial"/>
              <a:buNone/>
            </a:pPr>
            <a:r>
              <a:rPr lang="en-US" b="1" dirty="0">
                <a:latin typeface="Arial Narrow"/>
                <a:ea typeface="Arial Narrow"/>
                <a:cs typeface="Arial Narrow"/>
                <a:sym typeface="Arial Narrow"/>
              </a:rPr>
              <a:t>HARDWARE</a:t>
            </a:r>
            <a:endParaRPr>
              <a:latin typeface="Arial Narrow"/>
              <a:ea typeface="Arial Narrow"/>
              <a:cs typeface="Arial Narrow"/>
              <a:sym typeface="Arial Narrow"/>
            </a:endParaRPr>
          </a:p>
          <a:p>
            <a:pPr marL="0" lvl="0" indent="0">
              <a:spcBef>
                <a:spcPts val="0"/>
              </a:spcBef>
              <a:buClr>
                <a:srgbClr val="FF0000"/>
              </a:buClr>
              <a:buSzPts val="2800"/>
              <a:buNone/>
            </a:pPr>
            <a:r>
              <a:rPr lang="en-US" sz="2000" dirty="0">
                <a:latin typeface="Arial Narrow"/>
                <a:ea typeface="Arial Narrow"/>
                <a:cs typeface="Arial Narrow"/>
                <a:sym typeface="Arial Narrow"/>
              </a:rPr>
              <a:t>1.</a:t>
            </a:r>
            <a:r>
              <a:rPr lang="en-US" b="1" dirty="0">
                <a:latin typeface="Arial Narrow"/>
                <a:ea typeface="Arial Narrow"/>
                <a:cs typeface="Arial Narrow"/>
                <a:sym typeface="Arial Narrow"/>
              </a:rPr>
              <a:t> </a:t>
            </a:r>
            <a:r>
              <a:rPr lang="en-US" sz="2000" b="1" dirty="0">
                <a:latin typeface="Arial Narrow"/>
                <a:ea typeface="Arial Narrow"/>
                <a:cs typeface="Arial Narrow"/>
                <a:sym typeface="Arial Narrow"/>
              </a:rPr>
              <a:t>Processor      </a:t>
            </a:r>
            <a:r>
              <a:rPr lang="en-US" sz="2000" dirty="0">
                <a:latin typeface="Arial Narrow"/>
                <a:ea typeface="Arial Narrow"/>
                <a:cs typeface="Arial Narrow"/>
                <a:sym typeface="Arial Narrow"/>
              </a:rPr>
              <a:t>: Dual core processor 2.6.0 GHZ</a:t>
            </a:r>
            <a:endParaRPr>
              <a:latin typeface="Arial Narrow"/>
              <a:ea typeface="Arial Narrow"/>
              <a:cs typeface="Arial Narrow"/>
              <a:sym typeface="Arial Narrow"/>
            </a:endParaRPr>
          </a:p>
          <a:p>
            <a:pPr marL="0" lvl="0" indent="0">
              <a:buClr>
                <a:srgbClr val="FF0000"/>
              </a:buClr>
              <a:buSzPts val="2800"/>
              <a:buNone/>
            </a:pPr>
            <a:r>
              <a:rPr lang="en-US" sz="2000" dirty="0">
                <a:latin typeface="Arial Narrow"/>
                <a:ea typeface="Arial Narrow"/>
                <a:cs typeface="Arial Narrow"/>
                <a:sym typeface="Arial Narrow"/>
              </a:rPr>
              <a:t>2.</a:t>
            </a:r>
            <a:r>
              <a:rPr lang="en-US" b="1" dirty="0">
                <a:latin typeface="Arial Narrow"/>
                <a:ea typeface="Arial Narrow"/>
                <a:cs typeface="Arial Narrow"/>
                <a:sym typeface="Arial Narrow"/>
              </a:rPr>
              <a:t> </a:t>
            </a:r>
            <a:r>
              <a:rPr lang="en-US" sz="2000" b="1" dirty="0">
                <a:latin typeface="Arial Narrow"/>
                <a:ea typeface="Arial Narrow"/>
                <a:cs typeface="Arial Narrow"/>
                <a:sym typeface="Arial Narrow"/>
              </a:rPr>
              <a:t>RAM </a:t>
            </a:r>
            <a:r>
              <a:rPr lang="en-US" sz="2000" dirty="0">
                <a:latin typeface="Arial Narrow"/>
                <a:ea typeface="Arial Narrow"/>
                <a:cs typeface="Arial Narrow"/>
                <a:sym typeface="Arial Narrow"/>
              </a:rPr>
              <a:t>              : 4GB</a:t>
            </a:r>
            <a:endParaRPr>
              <a:latin typeface="Arial Narrow"/>
              <a:ea typeface="Arial Narrow"/>
              <a:cs typeface="Arial Narrow"/>
              <a:sym typeface="Arial Narrow"/>
            </a:endParaRPr>
          </a:p>
          <a:p>
            <a:pPr marL="0" lvl="0" indent="0">
              <a:buClr>
                <a:srgbClr val="FF0000"/>
              </a:buClr>
              <a:buSzPts val="2800"/>
              <a:buNone/>
            </a:pPr>
            <a:r>
              <a:rPr lang="en-US" sz="2000" dirty="0">
                <a:latin typeface="Arial Narrow"/>
                <a:ea typeface="Arial Narrow"/>
                <a:cs typeface="Arial Narrow"/>
                <a:sym typeface="Arial Narrow"/>
              </a:rPr>
              <a:t>3.</a:t>
            </a:r>
            <a:r>
              <a:rPr lang="en-US" sz="2000" b="1" dirty="0">
                <a:latin typeface="Arial Narrow"/>
                <a:ea typeface="Arial Narrow"/>
                <a:cs typeface="Arial Narrow"/>
                <a:sym typeface="Arial Narrow"/>
              </a:rPr>
              <a:t> Hard Disk       </a:t>
            </a:r>
            <a:r>
              <a:rPr lang="en-US" sz="2000" dirty="0">
                <a:latin typeface="Arial Narrow"/>
                <a:ea typeface="Arial Narrow"/>
                <a:cs typeface="Arial Narrow"/>
                <a:sym typeface="Arial Narrow"/>
              </a:rPr>
              <a:t>: Min 4GB</a:t>
            </a:r>
          </a:p>
          <a:p>
            <a:pPr marL="0" lvl="0" indent="0">
              <a:buClr>
                <a:srgbClr val="FF0000"/>
              </a:buClr>
              <a:buSzPts val="2800"/>
              <a:buNone/>
            </a:pPr>
            <a:r>
              <a:rPr lang="en-US" sz="2000" dirty="0">
                <a:latin typeface="Arial Narrow"/>
                <a:ea typeface="Arial Narrow"/>
                <a:cs typeface="Arial Narrow"/>
                <a:sym typeface="Arial Narrow"/>
              </a:rPr>
              <a:t>4. </a:t>
            </a:r>
            <a:r>
              <a:rPr lang="en-GB" sz="2000" b="1" dirty="0">
                <a:latin typeface="Arial Narrow"/>
                <a:ea typeface="Arial Narrow"/>
                <a:cs typeface="Arial Narrow"/>
                <a:sym typeface="Arial Narrow"/>
              </a:rPr>
              <a:t>Keyboard       : </a:t>
            </a:r>
            <a:r>
              <a:rPr lang="en-GB" sz="2000" dirty="0">
                <a:latin typeface="Arial Narrow"/>
                <a:ea typeface="Arial Narrow"/>
                <a:cs typeface="Arial Narrow"/>
                <a:sym typeface="Arial Narrow"/>
              </a:rPr>
              <a:t>standard keyboard</a:t>
            </a:r>
            <a:endParaRPr lang="en-US" sz="2000" dirty="0">
              <a:latin typeface="Arial Narrow"/>
              <a:ea typeface="Arial Narrow"/>
              <a:cs typeface="Arial Narrow"/>
              <a:sym typeface="Arial Narrow"/>
            </a:endParaRPr>
          </a:p>
          <a:p>
            <a:pPr marL="0" lvl="0" indent="0">
              <a:buClr>
                <a:srgbClr val="FF0000"/>
              </a:buClr>
              <a:buSzPts val="2800"/>
              <a:buNone/>
            </a:pPr>
            <a:endParaRPr>
              <a:latin typeface="Arial Narrow"/>
              <a:ea typeface="Arial Narrow"/>
              <a:cs typeface="Arial Narrow"/>
              <a:sym typeface="Arial Narrow"/>
            </a:endParaRPr>
          </a:p>
        </p:txBody>
      </p:sp>
      <p:sp>
        <p:nvSpPr>
          <p:cNvPr id="140" name="Google Shape;140;p8"/>
          <p:cNvSpPr txBox="1">
            <a:spLocks noGrp="1"/>
          </p:cNvSpPr>
          <p:nvPr>
            <p:ph type="body" idx="4"/>
          </p:nvPr>
        </p:nvSpPr>
        <p:spPr>
          <a:xfrm>
            <a:off x="6443003" y="2539370"/>
            <a:ext cx="5678128" cy="3684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Font typeface="Arial"/>
              <a:buNone/>
            </a:pPr>
            <a:r>
              <a:rPr lang="en-US" b="1" dirty="0">
                <a:latin typeface="Arial Narrow"/>
                <a:ea typeface="Arial Narrow"/>
                <a:cs typeface="Arial Narrow"/>
                <a:sym typeface="Arial Narrow"/>
              </a:rPr>
              <a:t>SOFTWARE</a:t>
            </a:r>
            <a:endParaRPr b="1">
              <a:latin typeface="Arial Narrow"/>
              <a:ea typeface="Arial Narrow"/>
              <a:cs typeface="Arial Narrow"/>
              <a:sym typeface="Arial Narrow"/>
            </a:endParaRPr>
          </a:p>
          <a:p>
            <a:pPr marL="0" lvl="0" indent="0" algn="l" rtl="0">
              <a:lnSpc>
                <a:spcPct val="90000"/>
              </a:lnSpc>
              <a:spcBef>
                <a:spcPts val="0"/>
              </a:spcBef>
              <a:spcAft>
                <a:spcPts val="0"/>
              </a:spcAft>
              <a:buClr>
                <a:srgbClr val="FF0000"/>
              </a:buClr>
              <a:buSzPts val="2800"/>
              <a:buNone/>
            </a:pPr>
            <a:endParaRPr>
              <a:latin typeface="Arial Narrow"/>
              <a:ea typeface="Arial Narrow"/>
              <a:cs typeface="Arial Narrow"/>
              <a:sym typeface="Arial Narrow"/>
            </a:endParaRPr>
          </a:p>
          <a:p>
            <a:pPr marL="0" lvl="0" indent="0">
              <a:spcBef>
                <a:spcPts val="0"/>
              </a:spcBef>
              <a:buClr>
                <a:srgbClr val="FF0000"/>
              </a:buClr>
              <a:buSzPts val="2800"/>
              <a:buNone/>
            </a:pPr>
            <a:r>
              <a:rPr lang="en-US" sz="2000" dirty="0">
                <a:latin typeface="Arial Narrow" pitchFamily="34" charset="0"/>
                <a:ea typeface="Arial Narrow"/>
                <a:cs typeface="Arial Narrow"/>
                <a:sym typeface="Arial Narrow"/>
              </a:rPr>
              <a:t>1. </a:t>
            </a:r>
            <a:r>
              <a:rPr lang="en-US" sz="2000" b="1" dirty="0">
                <a:latin typeface="Arial Narrow" pitchFamily="34" charset="0"/>
                <a:ea typeface="Arial Narrow"/>
                <a:cs typeface="Arial Narrow"/>
                <a:sym typeface="Arial Narrow"/>
              </a:rPr>
              <a:t>Programming Language </a:t>
            </a:r>
            <a:r>
              <a:rPr lang="en-US" sz="2000" dirty="0">
                <a:latin typeface="Arial Narrow" pitchFamily="34" charset="0"/>
                <a:ea typeface="Arial Narrow"/>
                <a:cs typeface="Arial Narrow"/>
                <a:sym typeface="Arial Narrow"/>
              </a:rPr>
              <a:t>: Python</a:t>
            </a:r>
            <a:endParaRPr sz="2000">
              <a:latin typeface="Arial Narrow" pitchFamily="34" charset="0"/>
              <a:ea typeface="Arial Narrow"/>
              <a:cs typeface="Arial Narrow"/>
              <a:sym typeface="Arial Narrow"/>
            </a:endParaRPr>
          </a:p>
          <a:p>
            <a:pPr marL="0" lvl="0" indent="0">
              <a:buClr>
                <a:srgbClr val="FF0000"/>
              </a:buClr>
              <a:buSzPts val="2800"/>
              <a:buNone/>
            </a:pPr>
            <a:r>
              <a:rPr lang="en-US" sz="2000" dirty="0">
                <a:latin typeface="Arial Narrow"/>
                <a:ea typeface="Arial Narrow"/>
                <a:cs typeface="Arial Narrow"/>
                <a:sym typeface="Arial Narrow"/>
              </a:rPr>
              <a:t>2.</a:t>
            </a:r>
            <a:r>
              <a:rPr lang="en-IN" sz="2000" b="1" dirty="0">
                <a:solidFill>
                  <a:schemeClr val="tx1"/>
                </a:solidFill>
                <a:latin typeface="Arial Narrow" panose="020B0606020202030204" pitchFamily="34" charset="0"/>
                <a:ea typeface="Arial Narrow"/>
                <a:cs typeface="Arial Narrow"/>
                <a:sym typeface="Arial Narrow"/>
              </a:rPr>
              <a:t> Data Storage </a:t>
            </a:r>
            <a:r>
              <a:rPr lang="en-IN" sz="2000" dirty="0">
                <a:solidFill>
                  <a:schemeClr val="tx1"/>
                </a:solidFill>
                <a:latin typeface="Arial Narrow" panose="020B0606020202030204" pitchFamily="34" charset="0"/>
                <a:ea typeface="Arial Narrow"/>
                <a:cs typeface="Arial Narrow"/>
                <a:sym typeface="Arial Narrow"/>
              </a:rPr>
              <a:t>:</a:t>
            </a:r>
            <a:r>
              <a:rPr lang="en-IN" sz="2000" dirty="0">
                <a:solidFill>
                  <a:schemeClr val="tx1"/>
                </a:solidFill>
                <a:latin typeface="Arial Narrow" panose="020B0606020202030204" pitchFamily="34" charset="0"/>
              </a:rPr>
              <a:t>Google Drive</a:t>
            </a:r>
            <a:endParaRPr sz="2000">
              <a:latin typeface="Arial Narrow"/>
              <a:ea typeface="Arial Narrow"/>
              <a:cs typeface="Arial Narrow"/>
              <a:sym typeface="Arial Narrow"/>
            </a:endParaRPr>
          </a:p>
          <a:p>
            <a:pPr marL="0" lvl="0" indent="0">
              <a:buClr>
                <a:srgbClr val="FF0000"/>
              </a:buClr>
              <a:buSzPts val="2800"/>
              <a:buNone/>
            </a:pPr>
            <a:r>
              <a:rPr lang="en-US" sz="2000" dirty="0">
                <a:latin typeface="Arial Narrow"/>
                <a:ea typeface="Arial Narrow"/>
                <a:cs typeface="Arial Narrow"/>
                <a:sym typeface="Arial Narrow"/>
              </a:rPr>
              <a:t>3.</a:t>
            </a:r>
            <a:r>
              <a:rPr lang="en-IN" sz="2000" b="1" dirty="0">
                <a:solidFill>
                  <a:schemeClr val="tx1"/>
                </a:solidFill>
                <a:latin typeface="Arial Narrow" panose="020B0606020202030204" pitchFamily="34" charset="0"/>
                <a:ea typeface="Arial Narrow"/>
                <a:cs typeface="Arial Narrow"/>
                <a:sym typeface="Arial Narrow"/>
              </a:rPr>
              <a:t> Libraries</a:t>
            </a:r>
            <a:r>
              <a:rPr lang="en-IN" sz="2000" dirty="0">
                <a:solidFill>
                  <a:schemeClr val="tx1"/>
                </a:solidFill>
                <a:latin typeface="Arial Narrow" panose="020B0606020202030204" pitchFamily="34" charset="0"/>
                <a:ea typeface="Arial Narrow"/>
                <a:cs typeface="Arial Narrow"/>
                <a:sym typeface="Arial Narrow"/>
              </a:rPr>
              <a:t> : </a:t>
            </a:r>
            <a:r>
              <a:rPr lang="en-IN" sz="2000" dirty="0" err="1">
                <a:solidFill>
                  <a:schemeClr val="tx1"/>
                </a:solidFill>
                <a:latin typeface="Arial Narrow" panose="020B0606020202030204" pitchFamily="34" charset="0"/>
              </a:rPr>
              <a:t>OpenCV</a:t>
            </a:r>
            <a:r>
              <a:rPr lang="en-IN" sz="2000" dirty="0">
                <a:solidFill>
                  <a:schemeClr val="tx1"/>
                </a:solidFill>
                <a:latin typeface="Arial Narrow" panose="020B0606020202030204" pitchFamily="34" charset="0"/>
              </a:rPr>
              <a:t>, PIL (Pillow), </a:t>
            </a:r>
            <a:r>
              <a:rPr lang="en-IN" sz="2000" dirty="0" err="1">
                <a:solidFill>
                  <a:schemeClr val="tx1"/>
                </a:solidFill>
                <a:latin typeface="Arial Narrow" panose="020B0606020202030204" pitchFamily="34" charset="0"/>
              </a:rPr>
              <a:t>NumPy</a:t>
            </a:r>
            <a:r>
              <a:rPr lang="en-IN" sz="2000" dirty="0">
                <a:solidFill>
                  <a:schemeClr val="tx1"/>
                </a:solidFill>
                <a:latin typeface="Arial Narrow" panose="020B0606020202030204" pitchFamily="34" charset="0"/>
              </a:rPr>
              <a:t> &amp; Pandas</a:t>
            </a:r>
          </a:p>
          <a:p>
            <a:pPr marL="0" lvl="0" indent="0">
              <a:buClr>
                <a:srgbClr val="FF0000"/>
              </a:buClr>
              <a:buSzPts val="2800"/>
              <a:buNone/>
            </a:pPr>
            <a:r>
              <a:rPr lang="en-IN" sz="2000" dirty="0">
                <a:solidFill>
                  <a:schemeClr val="tx1"/>
                </a:solidFill>
                <a:latin typeface="Arial Narrow" panose="020B0606020202030204" pitchFamily="34" charset="0"/>
              </a:rPr>
              <a:t>4.</a:t>
            </a:r>
            <a:r>
              <a:rPr lang="en-IN" sz="2000" b="1" dirty="0">
                <a:solidFill>
                  <a:schemeClr val="tx1"/>
                </a:solidFill>
                <a:latin typeface="Arial Narrow" panose="020B0606020202030204" pitchFamily="34" charset="0"/>
              </a:rPr>
              <a:t>Deployment Tool </a:t>
            </a:r>
            <a:r>
              <a:rPr lang="en-IN" sz="2000" dirty="0">
                <a:solidFill>
                  <a:schemeClr val="tx1"/>
                </a:solidFill>
                <a:latin typeface="Arial Narrow" panose="020B0606020202030204" pitchFamily="34" charset="0"/>
              </a:rPr>
              <a:t>: Flask / </a:t>
            </a:r>
            <a:r>
              <a:rPr lang="en-IN" sz="2000" dirty="0" err="1">
                <a:solidFill>
                  <a:schemeClr val="tx1"/>
                </a:solidFill>
                <a:latin typeface="Arial Narrow" panose="020B0606020202030204" pitchFamily="34" charset="0"/>
              </a:rPr>
              <a:t>FastAPI</a:t>
            </a:r>
            <a:r>
              <a:rPr lang="en-IN" sz="2000" dirty="0">
                <a:solidFill>
                  <a:schemeClr val="tx1"/>
                </a:solidFill>
                <a:latin typeface="Arial Narrow" panose="020B0606020202030204" pitchFamily="34" charset="0"/>
              </a:rPr>
              <a:t> ,Google Cloud </a:t>
            </a:r>
            <a:endParaRPr sz="2000">
              <a:latin typeface="Arial Narrow" pitchFamily="34" charset="0"/>
              <a:ea typeface="Arial Narrow"/>
              <a:cs typeface="Arial Narrow"/>
              <a:sym typeface="Arial Narrow"/>
            </a:endParaRPr>
          </a:p>
        </p:txBody>
      </p:sp>
      <p:sp>
        <p:nvSpPr>
          <p:cNvPr id="141" name="Google Shape;14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9</a:t>
            </a:fld>
            <a:endParaRPr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0" y="0"/>
            <a:ext cx="12192000" cy="618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imes New Roman"/>
              <a:buNone/>
            </a:pPr>
            <a:r>
              <a:rPr lang="en-US" b="1">
                <a:latin typeface="Arial Narrow"/>
                <a:ea typeface="Arial Narrow"/>
                <a:cs typeface="Arial Narrow"/>
                <a:sym typeface="Arial Narrow"/>
              </a:rPr>
              <a:t>MODULES </a:t>
            </a:r>
            <a:endParaRPr>
              <a:latin typeface="Arial Narrow"/>
              <a:ea typeface="Arial Narrow"/>
              <a:cs typeface="Arial Narrow"/>
              <a:sym typeface="Arial Narrow"/>
            </a:endParaRPr>
          </a:p>
        </p:txBody>
      </p:sp>
      <p:sp>
        <p:nvSpPr>
          <p:cNvPr id="147" name="Google Shape;147;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spcBef>
                <a:spcPts val="0"/>
              </a:spcBef>
              <a:buClr>
                <a:srgbClr val="FF0000"/>
              </a:buClr>
              <a:buSzPts val="2800"/>
              <a:buNone/>
            </a:pPr>
            <a:r>
              <a:rPr lang="en-US" dirty="0">
                <a:latin typeface="Arial Narrow" panose="020B0606020202030204" pitchFamily="34" charset="0"/>
                <a:ea typeface="Times New Roman"/>
                <a:cs typeface="Times New Roman"/>
                <a:sym typeface="Times New Roman"/>
              </a:rPr>
              <a:t>1.</a:t>
            </a:r>
            <a:r>
              <a:rPr lang="en-US" dirty="0">
                <a:latin typeface="Arial Narrow" panose="020B0606020202030204" pitchFamily="34" charset="0"/>
                <a:sym typeface="Times New Roman"/>
              </a:rPr>
              <a:t> Data collection and processing module</a:t>
            </a:r>
            <a:endParaRPr dirty="0">
              <a:latin typeface="Arial Narrow" panose="020B0606020202030204" pitchFamily="34" charset="0"/>
            </a:endParaRPr>
          </a:p>
          <a:p>
            <a:pPr marL="0" lvl="0" indent="0">
              <a:buClr>
                <a:srgbClr val="FF0000"/>
              </a:buClr>
              <a:buSzPts val="2800"/>
              <a:buNone/>
            </a:pPr>
            <a:r>
              <a:rPr lang="en-US" dirty="0">
                <a:latin typeface="Arial Narrow" panose="020B0606020202030204" pitchFamily="34" charset="0"/>
                <a:ea typeface="Times New Roman"/>
                <a:cs typeface="Times New Roman"/>
                <a:sym typeface="Times New Roman"/>
              </a:rPr>
              <a:t>2.</a:t>
            </a:r>
            <a:r>
              <a:rPr lang="en-US" dirty="0">
                <a:latin typeface="Arial Narrow" panose="020B0606020202030204" pitchFamily="34" charset="0"/>
                <a:sym typeface="Times New Roman"/>
              </a:rPr>
              <a:t> Future extraction module</a:t>
            </a:r>
            <a:endParaRPr dirty="0">
              <a:latin typeface="Arial Narrow" panose="020B0606020202030204" pitchFamily="34" charset="0"/>
            </a:endParaRPr>
          </a:p>
          <a:p>
            <a:pPr marL="0" lvl="0" indent="0">
              <a:buClr>
                <a:srgbClr val="FF0000"/>
              </a:buClr>
              <a:buSzPts val="2800"/>
              <a:buNone/>
            </a:pPr>
            <a:r>
              <a:rPr lang="en-US" dirty="0">
                <a:latin typeface="Arial Narrow" panose="020B0606020202030204" pitchFamily="34" charset="0"/>
                <a:ea typeface="Times New Roman"/>
                <a:cs typeface="Times New Roman"/>
                <a:sym typeface="Times New Roman"/>
              </a:rPr>
              <a:t>3.</a:t>
            </a:r>
            <a:r>
              <a:rPr lang="en-US" dirty="0">
                <a:latin typeface="Arial Narrow" panose="020B0606020202030204" pitchFamily="34" charset="0"/>
                <a:sym typeface="Times New Roman"/>
              </a:rPr>
              <a:t> Leaf detection module</a:t>
            </a:r>
            <a:endParaRPr dirty="0">
              <a:latin typeface="Arial Narrow" panose="020B0606020202030204" pitchFamily="34" charset="0"/>
            </a:endParaRPr>
          </a:p>
          <a:p>
            <a:pPr marL="0" lvl="0" indent="0">
              <a:buClr>
                <a:srgbClr val="FF0000"/>
              </a:buClr>
              <a:buSzPts val="2800"/>
              <a:buNone/>
            </a:pPr>
            <a:r>
              <a:rPr lang="en-US" dirty="0">
                <a:latin typeface="Arial Narrow" panose="020B0606020202030204" pitchFamily="34" charset="0"/>
                <a:ea typeface="Times New Roman"/>
                <a:cs typeface="Times New Roman"/>
                <a:sym typeface="Times New Roman"/>
              </a:rPr>
              <a:t>4.</a:t>
            </a:r>
            <a:r>
              <a:rPr lang="en-US" dirty="0">
                <a:latin typeface="Arial Narrow" panose="020B0606020202030204" pitchFamily="34" charset="0"/>
                <a:sym typeface="Times New Roman"/>
              </a:rPr>
              <a:t> Disease classification module</a:t>
            </a:r>
            <a:endParaRPr dirty="0">
              <a:latin typeface="Arial Narrow" panose="020B0606020202030204" pitchFamily="34" charset="0"/>
            </a:endParaRPr>
          </a:p>
          <a:p>
            <a:pPr marL="0" lvl="0" indent="0">
              <a:buClr>
                <a:srgbClr val="FF0000"/>
              </a:buClr>
              <a:buSzPts val="2800"/>
              <a:buNone/>
            </a:pPr>
            <a:r>
              <a:rPr lang="en-US" dirty="0">
                <a:latin typeface="Arial Narrow" panose="020B0606020202030204" pitchFamily="34" charset="0"/>
                <a:ea typeface="Times New Roman"/>
                <a:cs typeface="Times New Roman"/>
                <a:sym typeface="Times New Roman"/>
              </a:rPr>
              <a:t>5.</a:t>
            </a:r>
            <a:r>
              <a:rPr lang="en-US" dirty="0">
                <a:latin typeface="Arial Narrow" panose="020B0606020202030204" pitchFamily="34" charset="0"/>
                <a:sym typeface="Times New Roman"/>
              </a:rPr>
              <a:t> Evaluation and Deployment module</a:t>
            </a:r>
            <a:endParaRPr dirty="0">
              <a:latin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a:cs typeface="Times New Roman"/>
              <a:sym typeface="Times New Roman"/>
            </a:endParaRPr>
          </a:p>
        </p:txBody>
      </p:sp>
      <p:sp>
        <p:nvSpPr>
          <p:cNvPr id="148" name="Google Shape;1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10</a:t>
            </a:fld>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Clr>
                <a:srgbClr val="FF0000"/>
              </a:buClr>
              <a:buSzPts val="2800"/>
            </a:pPr>
            <a:r>
              <a:rPr lang="en-US" b="1" dirty="0">
                <a:latin typeface="Arial Narrow" panose="020B0606020202030204" pitchFamily="34" charset="0"/>
                <a:sym typeface="Times New Roman"/>
              </a:rPr>
              <a:t>Data collection and processing module</a:t>
            </a:r>
            <a:endParaRPr lang="en-US" b="1" dirty="0">
              <a:latin typeface="Arial Narrow" panose="020B0606020202030204" pitchFamily="34" charset="0"/>
            </a:endParaRPr>
          </a:p>
        </p:txBody>
      </p:sp>
      <p:sp>
        <p:nvSpPr>
          <p:cNvPr id="154" name="Google Shape;154;p10"/>
          <p:cNvSpPr txBox="1">
            <a:spLocks noGrp="1"/>
          </p:cNvSpPr>
          <p:nvPr>
            <p:ph type="body" idx="1"/>
          </p:nvPr>
        </p:nvSpPr>
        <p:spPr>
          <a:xfrm>
            <a:off x="600075" y="1251215"/>
            <a:ext cx="6943725" cy="4351338"/>
          </a:xfrm>
          <a:prstGeom prst="rect">
            <a:avLst/>
          </a:prstGeom>
          <a:noFill/>
          <a:ln>
            <a:noFill/>
          </a:ln>
        </p:spPr>
        <p:txBody>
          <a:bodyPr spcFirstLastPara="1" wrap="square" lIns="91425" tIns="45700" rIns="91425" bIns="45700" anchor="t" anchorCtr="0">
            <a:normAutofit/>
          </a:bodyPr>
          <a:lstStyle/>
          <a:p>
            <a:pPr marL="0" lvl="0" indent="0"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 Collect leaf images from existing datasets or capture new images.</a:t>
            </a:r>
          </a:p>
          <a:p>
            <a:pPr marL="0" lvl="0" indent="0"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 Perform preprocessing steps such as resizing, normalization, noise removal, and augmentation (rotation, flipping, contrast enhancement</a:t>
            </a:r>
            <a:r>
              <a:rPr lang="en-US" altLang="en-US" dirty="0">
                <a:solidFill>
                  <a:schemeClr val="tx1"/>
                </a:solidFill>
                <a:latin typeface="Arial" panose="020B0604020202020204" pitchFamily="34" charset="0"/>
              </a:rPr>
              <a:t>).</a:t>
            </a:r>
          </a:p>
          <a:p>
            <a:pPr marL="0" lvl="0" indent="0" algn="just" rtl="0">
              <a:lnSpc>
                <a:spcPct val="90000"/>
              </a:lnSpc>
              <a:spcBef>
                <a:spcPts val="0"/>
              </a:spcBef>
              <a:spcAft>
                <a:spcPts val="0"/>
              </a:spcAft>
              <a:buClr>
                <a:srgbClr val="FF0000"/>
              </a:buClr>
              <a:buSzPts val="2800"/>
              <a:buNone/>
            </a:pPr>
            <a:endParaRPr lang="en-IN" dirty="0">
              <a:latin typeface="Arial Narrow" panose="020B0606020202030204" pitchFamily="34" charset="0"/>
            </a:endParaRPr>
          </a:p>
          <a:p>
            <a:pPr marL="0" lvl="0" indent="0" algn="just" rtl="0">
              <a:lnSpc>
                <a:spcPct val="90000"/>
              </a:lnSpc>
              <a:spcBef>
                <a:spcPts val="1000"/>
              </a:spcBef>
              <a:spcAft>
                <a:spcPts val="0"/>
              </a:spcAft>
              <a:buClr>
                <a:srgbClr val="FF0000"/>
              </a:buClr>
              <a:buSzPts val="2800"/>
              <a:buNone/>
            </a:pPr>
            <a:endParaRPr lang="en-IN" dirty="0">
              <a:latin typeface="Arial Narrow" panose="020B0606020202030204" pitchFamily="34" charset="0"/>
              <a:ea typeface="Times New Roman"/>
              <a:cs typeface="Times New Roman"/>
              <a:sym typeface="Times New Roman"/>
            </a:endParaRPr>
          </a:p>
        </p:txBody>
      </p:sp>
      <p:sp>
        <p:nvSpPr>
          <p:cNvPr id="155"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smtClean="0">
                <a:solidFill>
                  <a:schemeClr val="dk1"/>
                </a:solidFill>
              </a:rPr>
              <a:pPr marL="0" lvl="0" indent="0" algn="r" rtl="0">
                <a:spcBef>
                  <a:spcPts val="0"/>
                </a:spcBef>
                <a:spcAft>
                  <a:spcPts val="0"/>
                </a:spcAft>
                <a:buNone/>
              </a:pPr>
              <a:t>11</a:t>
            </a:fld>
            <a:endParaRPr lang="en-US" b="1">
              <a:solidFill>
                <a:schemeClr val="dk1"/>
              </a:solidFill>
            </a:endParaRPr>
          </a:p>
        </p:txBody>
      </p:sp>
      <p:sp>
        <p:nvSpPr>
          <p:cNvPr id="3" name="AutoShape 4">
            <a:extLst>
              <a:ext uri="{FF2B5EF4-FFF2-40B4-BE49-F238E27FC236}">
                <a16:creationId xmlns:a16="http://schemas.microsoft.com/office/drawing/2014/main" id="{509656BB-8B2E-3E36-21FC-816E8E0F30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32668393-0900-872C-C780-59893AF45452}"/>
              </a:ext>
            </a:extLst>
          </p:cNvPr>
          <p:cNvPicPr>
            <a:picLocks noChangeAspect="1"/>
          </p:cNvPicPr>
          <p:nvPr/>
        </p:nvPicPr>
        <p:blipFill>
          <a:blip r:embed="rId3"/>
          <a:stretch>
            <a:fillRect/>
          </a:stretch>
        </p:blipFill>
        <p:spPr>
          <a:xfrm>
            <a:off x="7153275" y="869439"/>
            <a:ext cx="4562475" cy="54239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 Use deep learning models (CNN, </a:t>
            </a:r>
            <a:r>
              <a:rPr lang="en-US" altLang="en-US" dirty="0" err="1">
                <a:solidFill>
                  <a:schemeClr val="tx1"/>
                </a:solidFill>
                <a:latin typeface="Arial Narrow" panose="020B0606020202030204" pitchFamily="34" charset="0"/>
              </a:rPr>
              <a:t>ResNet</a:t>
            </a:r>
            <a:r>
              <a:rPr lang="en-US" altLang="en-US" dirty="0">
                <a:solidFill>
                  <a:schemeClr val="tx1"/>
                </a:solidFill>
                <a:latin typeface="Arial Narrow" panose="020B0606020202030204" pitchFamily="34" charset="0"/>
              </a:rPr>
              <a:t>, VGG, etc.) to extract features automatically.</a:t>
            </a: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 Focus on leaf texture, shape, and color variations that help in detecting disease patterns.</a:t>
            </a: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a:cs typeface="Times New Roman"/>
              <a:sym typeface="Times New Roman"/>
            </a:endParaRPr>
          </a:p>
        </p:txBody>
      </p:sp>
      <p:sp>
        <p:nvSpPr>
          <p:cNvPr id="161" name="Google Shape;16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12</a:t>
            </a:fld>
            <a:endParaRPr b="1">
              <a:solidFill>
                <a:schemeClr val="dk1"/>
              </a:solidFill>
            </a:endParaRPr>
          </a:p>
        </p:txBody>
      </p:sp>
      <p:sp>
        <p:nvSpPr>
          <p:cNvPr id="162" name="Google Shape;162;p11"/>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Clr>
                <a:srgbClr val="FF0000"/>
              </a:buClr>
              <a:buSzPts val="2800"/>
            </a:pPr>
            <a:r>
              <a:rPr lang="en-US" b="1" dirty="0">
                <a:latin typeface="Arial Narrow" panose="020B0606020202030204" pitchFamily="34" charset="0"/>
                <a:sym typeface="Times New Roman"/>
              </a:rPr>
              <a:t>Future extraction module</a:t>
            </a:r>
            <a:endParaRPr lang="en-US" b="1" dirty="0">
              <a:latin typeface="Arial Narrow" panose="020B0606020202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Apply segmentation techniques (</a:t>
            </a:r>
            <a:r>
              <a:rPr lang="en-US" altLang="en-US" dirty="0" err="1">
                <a:solidFill>
                  <a:schemeClr val="tx1"/>
                </a:solidFill>
                <a:latin typeface="Arial Narrow" panose="020B0606020202030204" pitchFamily="34" charset="0"/>
              </a:rPr>
              <a:t>e.g.,thresholding</a:t>
            </a:r>
            <a:r>
              <a:rPr lang="en-US" altLang="en-US" dirty="0">
                <a:solidFill>
                  <a:schemeClr val="tx1"/>
                </a:solidFill>
                <a:latin typeface="Arial Narrow" panose="020B0606020202030204" pitchFamily="34" charset="0"/>
              </a:rPr>
              <a:t>) to separate the leaf from the background.</a:t>
            </a:r>
          </a:p>
          <a:p>
            <a:pPr marL="0" lvl="0" indent="0"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Ensure only the region of interest (ROI – leaf portion) is passed for further analysis.</a:t>
            </a:r>
          </a:p>
        </p:txBody>
      </p:sp>
      <p:sp>
        <p:nvSpPr>
          <p:cNvPr id="168" name="Google Shape;16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13</a:t>
            </a:fld>
            <a:endParaRPr b="1">
              <a:solidFill>
                <a:schemeClr val="dk1"/>
              </a:solidFill>
            </a:endParaRPr>
          </a:p>
        </p:txBody>
      </p:sp>
      <p:sp>
        <p:nvSpPr>
          <p:cNvPr id="169" name="Google Shape;169;p12"/>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Clr>
                <a:srgbClr val="FF0000"/>
              </a:buClr>
              <a:buSzPts val="2800"/>
            </a:pPr>
            <a:r>
              <a:rPr lang="en-US" b="1" dirty="0">
                <a:latin typeface="Arial Narrow" panose="020B0606020202030204" pitchFamily="34" charset="0"/>
                <a:sym typeface="Times New Roman"/>
              </a:rPr>
              <a:t>Leaf detection module</a:t>
            </a:r>
            <a:endParaRPr lang="en-US" b="1" dirty="0">
              <a:latin typeface="Arial Narrow" panose="020B0606020202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Train a </a:t>
            </a:r>
            <a:r>
              <a:rPr lang="en-US" altLang="en-US" b="1" dirty="0">
                <a:solidFill>
                  <a:schemeClr val="tx1"/>
                </a:solidFill>
                <a:latin typeface="Arial Narrow" panose="020B0606020202030204" pitchFamily="34" charset="0"/>
              </a:rPr>
              <a:t>deep neural network</a:t>
            </a:r>
            <a:r>
              <a:rPr lang="en-US" altLang="en-US" dirty="0">
                <a:solidFill>
                  <a:schemeClr val="tx1"/>
                </a:solidFill>
                <a:latin typeface="Arial Narrow" panose="020B0606020202030204" pitchFamily="34" charset="0"/>
              </a:rPr>
              <a:t> to classify leaves into categories: healthy vs. diseased.</a:t>
            </a: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Further classify into specific disease types (e.g., blight, rust, mildew).</a:t>
            </a: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Use transfer learning for improved accuracy.</a:t>
            </a:r>
          </a:p>
        </p:txBody>
      </p:sp>
      <p:sp>
        <p:nvSpPr>
          <p:cNvPr id="175"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14</a:t>
            </a:fld>
            <a:endParaRPr b="1">
              <a:solidFill>
                <a:schemeClr val="dk1"/>
              </a:solidFill>
            </a:endParaRPr>
          </a:p>
        </p:txBody>
      </p:sp>
      <p:sp>
        <p:nvSpPr>
          <p:cNvPr id="176" name="Google Shape;176;p13"/>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Clr>
                <a:srgbClr val="FF0000"/>
              </a:buClr>
              <a:buSzPts val="2800"/>
            </a:pPr>
            <a:r>
              <a:rPr lang="en-US" b="1" dirty="0">
                <a:latin typeface="Arial Narrow" panose="020B0606020202030204" pitchFamily="34" charset="0"/>
                <a:sym typeface="Times New Roman"/>
              </a:rPr>
              <a:t>Disease classification module</a:t>
            </a:r>
            <a:endParaRPr lang="en-US" b="1" dirty="0">
              <a:latin typeface="Arial Narrow" panose="020B0606020202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Evaluate model performance using accuracy, precision, recall, F1-score, and confusion matrix.</a:t>
            </a:r>
          </a:p>
          <a:p>
            <a:pPr marL="0" lvl="0" indent="0" algn="just" eaLnBrk="0" fontAlgn="base" hangingPunct="0">
              <a:lnSpc>
                <a:spcPct val="150000"/>
              </a:lnSpc>
              <a:spcBef>
                <a:spcPct val="0"/>
              </a:spcBef>
              <a:spcAft>
                <a:spcPct val="0"/>
              </a:spcAft>
              <a:buClrTx/>
              <a:buSzTx/>
              <a:buFontTx/>
              <a:buChar char="•"/>
            </a:pPr>
            <a:r>
              <a:rPr lang="en-US" altLang="en-US" dirty="0">
                <a:solidFill>
                  <a:schemeClr val="tx1"/>
                </a:solidFill>
                <a:latin typeface="Arial Narrow" panose="020B0606020202030204" pitchFamily="34" charset="0"/>
              </a:rPr>
              <a:t>Deploy the trained model as a </a:t>
            </a:r>
            <a:r>
              <a:rPr lang="en-US" altLang="en-US" b="1" dirty="0">
                <a:solidFill>
                  <a:schemeClr val="tx1"/>
                </a:solidFill>
                <a:latin typeface="Arial Narrow" panose="020B0606020202030204" pitchFamily="34" charset="0"/>
              </a:rPr>
              <a:t>desktop app, web app, or mobile app</a:t>
            </a:r>
            <a:r>
              <a:rPr lang="en-US" altLang="en-US" dirty="0">
                <a:solidFill>
                  <a:schemeClr val="tx1"/>
                </a:solidFill>
                <a:latin typeface="Arial Narrow" panose="020B0606020202030204" pitchFamily="34" charset="0"/>
              </a:rPr>
              <a:t> for real-time leaf disease detection.</a:t>
            </a:r>
          </a:p>
        </p:txBody>
      </p:sp>
      <p:sp>
        <p:nvSpPr>
          <p:cNvPr id="182" name="Google Shape;182;p14"/>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pPr marL="0" lvl="0" indent="0" algn="r" rtl="0">
                <a:spcBef>
                  <a:spcPts val="0"/>
                </a:spcBef>
                <a:spcAft>
                  <a:spcPts val="0"/>
                </a:spcAft>
                <a:buNone/>
              </a:pPr>
              <a:t>15</a:t>
            </a:fld>
            <a:endParaRPr b="1">
              <a:solidFill>
                <a:schemeClr val="dk1"/>
              </a:solidFill>
            </a:endParaRPr>
          </a:p>
        </p:txBody>
      </p:sp>
      <p:sp>
        <p:nvSpPr>
          <p:cNvPr id="183" name="Google Shape;183;p14"/>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Clr>
                <a:srgbClr val="FF0000"/>
              </a:buClr>
              <a:buSzPts val="2800"/>
            </a:pPr>
            <a:r>
              <a:rPr lang="en-US" b="1" dirty="0">
                <a:latin typeface="Arial Narrow" panose="020B0606020202030204" pitchFamily="34" charset="0"/>
                <a:sym typeface="Times New Roman"/>
              </a:rPr>
              <a:t>Evaluation and Deployment module</a:t>
            </a:r>
            <a:endParaRPr lang="en-US" b="1" dirty="0">
              <a:latin typeface="Arial Narrow" panose="020B0606020202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Arial Narrow"/>
                <a:ea typeface="Arial Narrow"/>
                <a:cs typeface="Arial Narrow"/>
                <a:sym typeface="Arial Narrow"/>
              </a:rPr>
              <a:t>CONCLUSION</a:t>
            </a:r>
            <a:endParaRPr b="1">
              <a:latin typeface="Arial Narrow"/>
              <a:ea typeface="Arial Narrow"/>
              <a:cs typeface="Arial Narrow"/>
              <a:sym typeface="Arial Narrow"/>
            </a:endParaRPr>
          </a:p>
        </p:txBody>
      </p:sp>
      <p:sp>
        <p:nvSpPr>
          <p:cNvPr id="195" name="Google Shape;19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indent="0">
              <a:spcBef>
                <a:spcPts val="0"/>
              </a:spcBef>
              <a:buSzPts val="2800"/>
              <a:buNone/>
            </a:pPr>
            <a:r>
              <a:rPr lang="en-US" b="1" dirty="0">
                <a:latin typeface="Arial Narrow" panose="020B0606020202030204" pitchFamily="34" charset="0"/>
                <a:ea typeface="Times New Roman"/>
                <a:cs typeface="Times New Roman"/>
                <a:sym typeface="Times New Roman"/>
              </a:rPr>
              <a:t>1.</a:t>
            </a:r>
            <a:r>
              <a:rPr lang="en-US" altLang="en-US" dirty="0">
                <a:solidFill>
                  <a:schemeClr val="tx1"/>
                </a:solidFill>
                <a:latin typeface="Arial Narrow" panose="020B0606020202030204" pitchFamily="34" charset="0"/>
              </a:rPr>
              <a:t> </a:t>
            </a:r>
            <a:r>
              <a:rPr lang="en-US" altLang="en-US" sz="2400" dirty="0">
                <a:solidFill>
                  <a:schemeClr val="tx1"/>
                </a:solidFill>
                <a:latin typeface="Arial Narrow" panose="020B0606020202030204" pitchFamily="34" charset="0"/>
              </a:rPr>
              <a:t>This project presents a deep learning-based system for detecting and classifying leaf diseases. The model effectively processes images through preprocessing, detection, and classification stages. It ensures early and accurate identification of plant diseases.</a:t>
            </a:r>
          </a:p>
          <a:p>
            <a:pPr marL="0" lvl="0" indent="0">
              <a:spcBef>
                <a:spcPts val="0"/>
              </a:spcBef>
              <a:buSzPts val="2800"/>
              <a:buNone/>
            </a:pPr>
            <a:endParaRPr lang="en-US" dirty="0">
              <a:latin typeface="Arial Narrow" panose="020B0606020202030204" pitchFamily="34" charset="0"/>
            </a:endParaRPr>
          </a:p>
          <a:p>
            <a:pPr marL="0" indent="0">
              <a:buSzPts val="2800"/>
              <a:buNone/>
            </a:pPr>
            <a:r>
              <a:rPr lang="en-US" sz="2400" b="1" dirty="0">
                <a:latin typeface="Arial Narrow" panose="020B0606020202030204" pitchFamily="34" charset="0"/>
                <a:ea typeface="Times New Roman"/>
                <a:cs typeface="Times New Roman"/>
                <a:sym typeface="Times New Roman"/>
              </a:rPr>
              <a:t>2.</a:t>
            </a:r>
            <a:r>
              <a:rPr lang="en-US" altLang="en-US" sz="2400" dirty="0">
                <a:solidFill>
                  <a:schemeClr val="tx1"/>
                </a:solidFill>
                <a:latin typeface="Arial Narrow" panose="020B0606020202030204" pitchFamily="34" charset="0"/>
              </a:rPr>
              <a:t> The system can be deployed as a user-friendly application for farmers and researchers. It supports smart agriculture by reducing manual inspection efforts. Overall, the project enhances crop health management through automation.</a:t>
            </a:r>
          </a:p>
        </p:txBody>
      </p:sp>
      <p:sp>
        <p:nvSpPr>
          <p:cNvPr id="196"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pPr marL="0" lvl="0" indent="0" algn="r" rtl="0">
                <a:spcBef>
                  <a:spcPts val="0"/>
                </a:spcBef>
                <a:spcAft>
                  <a:spcPts val="0"/>
                </a:spcAft>
                <a:buNone/>
              </a:pPr>
              <a:t>16</a:t>
            </a:fld>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58DC945-209D-3CC4-978D-F1775DC4CA21}"/>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41AD951B-2AFC-752E-2E78-41812B04042F}"/>
              </a:ext>
            </a:extLst>
          </p:cNvPr>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lvl="0" algn="ctr">
              <a:buSzPts val="4400"/>
            </a:pPr>
            <a:r>
              <a:rPr lang="en-US" b="1" dirty="0">
                <a:latin typeface="Arial Narrow"/>
              </a:rPr>
              <a:t>FUTURE ENHANCEMENTS </a:t>
            </a:r>
            <a:endParaRPr b="1" dirty="0">
              <a:latin typeface="Arial Narrow"/>
              <a:sym typeface="Arial Narrow"/>
            </a:endParaRPr>
          </a:p>
        </p:txBody>
      </p:sp>
      <p:sp>
        <p:nvSpPr>
          <p:cNvPr id="195" name="Google Shape;195;p16">
            <a:extLst>
              <a:ext uri="{FF2B5EF4-FFF2-40B4-BE49-F238E27FC236}">
                <a16:creationId xmlns:a16="http://schemas.microsoft.com/office/drawing/2014/main" id="{648B83C1-3DE7-3E3F-40F8-76D0B6241301}"/>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lvl="0" indent="-457200">
              <a:spcBef>
                <a:spcPts val="0"/>
              </a:spcBef>
              <a:buSzPts val="2800"/>
              <a:buAutoNum type="arabicPeriod"/>
            </a:pPr>
            <a:r>
              <a:rPr lang="en-US" sz="2400" dirty="0">
                <a:latin typeface="Arial Narrow" panose="020B0606020202030204" pitchFamily="34" charset="0"/>
                <a:ea typeface="Times New Roman"/>
                <a:cs typeface="Times New Roman"/>
                <a:sym typeface="Times New Roman"/>
              </a:rPr>
              <a:t>Future enhancements can include integrating the system with </a:t>
            </a:r>
            <a:r>
              <a:rPr lang="en-US" sz="2400" dirty="0" err="1">
                <a:latin typeface="Arial Narrow" panose="020B0606020202030204" pitchFamily="34" charset="0"/>
                <a:ea typeface="Times New Roman"/>
                <a:cs typeface="Times New Roman"/>
                <a:sym typeface="Times New Roman"/>
              </a:rPr>
              <a:t>IoT</a:t>
            </a:r>
            <a:r>
              <a:rPr lang="en-US" sz="2400" dirty="0">
                <a:latin typeface="Arial Narrow" panose="020B0606020202030204" pitchFamily="34" charset="0"/>
                <a:ea typeface="Times New Roman"/>
                <a:cs typeface="Times New Roman"/>
                <a:sym typeface="Times New Roman"/>
              </a:rPr>
              <a:t> devices and drones to enable real-time monitoring of crop fields. This would help farmers detect diseases early without manually inspecting each plant. The system can also be expanded to support more plant species and complex disease patterns.</a:t>
            </a:r>
          </a:p>
          <a:p>
            <a:pPr lvl="0" indent="-457200">
              <a:spcBef>
                <a:spcPts val="0"/>
              </a:spcBef>
              <a:buSzPts val="2800"/>
              <a:buNone/>
            </a:pPr>
            <a:endParaRPr lang="en-US" sz="2400" dirty="0">
              <a:latin typeface="Arial Narrow" panose="020B0606020202030204" pitchFamily="34" charset="0"/>
              <a:ea typeface="Times New Roman"/>
              <a:cs typeface="Times New Roman"/>
              <a:sym typeface="Times New Roman"/>
            </a:endParaRPr>
          </a:p>
          <a:p>
            <a:pPr lvl="0" indent="-457200">
              <a:spcBef>
                <a:spcPts val="0"/>
              </a:spcBef>
              <a:buSzPts val="2800"/>
              <a:buNone/>
            </a:pPr>
            <a:r>
              <a:rPr lang="en-US" b="1" dirty="0">
                <a:latin typeface="Arial Narrow" panose="020B0606020202030204" pitchFamily="34" charset="0"/>
                <a:ea typeface="Times New Roman"/>
                <a:cs typeface="Times New Roman"/>
                <a:sym typeface="Times New Roman"/>
              </a:rPr>
              <a:t>2.   </a:t>
            </a:r>
            <a:r>
              <a:rPr lang="en-US" sz="2400" dirty="0">
                <a:latin typeface="Arial Narrow" panose="020B0606020202030204" pitchFamily="34" charset="0"/>
                <a:ea typeface="Times New Roman"/>
                <a:cs typeface="Times New Roman"/>
                <a:sym typeface="Times New Roman"/>
              </a:rPr>
              <a:t>Additionally, a mobile application can be developed for quick on-field diagnosis using a </a:t>
            </a:r>
            <a:r>
              <a:rPr lang="en-US" sz="2400" dirty="0" err="1">
                <a:latin typeface="Arial Narrow" panose="020B0606020202030204" pitchFamily="34" charset="0"/>
                <a:ea typeface="Times New Roman"/>
                <a:cs typeface="Times New Roman"/>
                <a:sym typeface="Times New Roman"/>
              </a:rPr>
              <a:t>smartphone</a:t>
            </a:r>
            <a:r>
              <a:rPr lang="en-US" sz="2400" dirty="0">
                <a:latin typeface="Arial Narrow" panose="020B0606020202030204" pitchFamily="34" charset="0"/>
                <a:ea typeface="Times New Roman"/>
                <a:cs typeface="Times New Roman"/>
                <a:sym typeface="Times New Roman"/>
              </a:rPr>
              <a:t> camera. The model can be enhanced with self-learning capabilities to improve accuracy over time. Cloud storage and analytics can be added for better farm data management. These enhancements will further support smart agriculture and boost crop productivity.</a:t>
            </a:r>
            <a:endParaRPr lang="en-US" sz="2400" dirty="0">
              <a:latin typeface="Arial Narrow" panose="020B0606020202030204" pitchFamily="34" charset="0"/>
            </a:endParaRPr>
          </a:p>
        </p:txBody>
      </p:sp>
      <p:sp>
        <p:nvSpPr>
          <p:cNvPr id="196" name="Google Shape;196;p16">
            <a:extLst>
              <a:ext uri="{FF2B5EF4-FFF2-40B4-BE49-F238E27FC236}">
                <a16:creationId xmlns:a16="http://schemas.microsoft.com/office/drawing/2014/main" id="{5F65EE21-0D87-9A7B-FC62-462463E7E7B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pPr marL="0" lvl="0" indent="0" algn="r" rtl="0">
                <a:spcBef>
                  <a:spcPts val="0"/>
                </a:spcBef>
                <a:spcAft>
                  <a:spcPts val="0"/>
                </a:spcAft>
                <a:buNone/>
              </a:pPr>
              <a:t>17</a:t>
            </a:fld>
            <a:endParaRPr>
              <a:solidFill>
                <a:schemeClr val="dk1"/>
              </a:solidFill>
            </a:endParaRPr>
          </a:p>
        </p:txBody>
      </p:sp>
    </p:spTree>
    <p:extLst>
      <p:ext uri="{BB962C8B-B14F-4D97-AF65-F5344CB8AC3E}">
        <p14:creationId xmlns:p14="http://schemas.microsoft.com/office/powerpoint/2010/main" val="2834070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988</Words>
  <Application>Microsoft Office PowerPoint</Application>
  <PresentationFormat>Widescreen</PresentationFormat>
  <Paragraphs>120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 Narrow</vt:lpstr>
      <vt:lpstr>Calibri</vt:lpstr>
      <vt:lpstr>Arial</vt:lpstr>
      <vt:lpstr>Times New Roman</vt: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SOFTWARE AND HARDWARE REQUIREMENTS </vt:lpstr>
      <vt:lpstr>MODULES </vt:lpstr>
      <vt:lpstr>Data collection and processing module</vt:lpstr>
      <vt:lpstr>Future extraction module</vt:lpstr>
      <vt:lpstr>Leaf detection module</vt:lpstr>
      <vt:lpstr>Disease classification module</vt:lpstr>
      <vt:lpstr>Evaluation and Deployment module</vt:lpstr>
      <vt:lpstr>CONCLUSION</vt:lpstr>
      <vt:lpstr>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Saravanan M</dc:creator>
  <cp:lastModifiedBy>kathirvel psk</cp:lastModifiedBy>
  <cp:revision>17</cp:revision>
  <dcterms:modified xsi:type="dcterms:W3CDTF">2025-11-28T04:19:51Z</dcterms:modified>
</cp:coreProperties>
</file>